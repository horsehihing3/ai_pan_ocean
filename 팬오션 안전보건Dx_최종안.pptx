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06" r:id="rId2"/>
    <p:sldId id="256" r:id="rId3"/>
    <p:sldId id="312" r:id="rId4"/>
    <p:sldId id="260" r:id="rId5"/>
    <p:sldId id="307" r:id="rId6"/>
    <p:sldId id="257" r:id="rId7"/>
    <p:sldId id="308" r:id="rId8"/>
    <p:sldId id="299" r:id="rId9"/>
    <p:sldId id="310" r:id="rId10"/>
    <p:sldId id="259" r:id="rId11"/>
    <p:sldId id="261" r:id="rId12"/>
    <p:sldId id="320" r:id="rId13"/>
    <p:sldId id="281" r:id="rId14"/>
    <p:sldId id="262" r:id="rId15"/>
    <p:sldId id="311" r:id="rId16"/>
    <p:sldId id="314" r:id="rId17"/>
    <p:sldId id="295" r:id="rId18"/>
    <p:sldId id="313" r:id="rId19"/>
    <p:sldId id="266" r:id="rId20"/>
    <p:sldId id="267" r:id="rId21"/>
    <p:sldId id="270" r:id="rId22"/>
    <p:sldId id="274" r:id="rId23"/>
    <p:sldId id="315" r:id="rId24"/>
    <p:sldId id="275" r:id="rId25"/>
    <p:sldId id="317" r:id="rId26"/>
    <p:sldId id="278" r:id="rId27"/>
    <p:sldId id="302" r:id="rId28"/>
    <p:sldId id="296" r:id="rId29"/>
    <p:sldId id="316" r:id="rId30"/>
    <p:sldId id="319" r:id="rId31"/>
    <p:sldId id="318" r:id="rId32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소원" initials="황" lastIdx="20" clrIdx="0">
    <p:extLst>
      <p:ext uri="{19B8F6BF-5375-455C-9EA6-DF929625EA0E}">
        <p15:presenceInfo xmlns:p15="http://schemas.microsoft.com/office/powerpoint/2012/main" userId="S-1-5-21-816273519-1858008273-3473296158-839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627FB7"/>
    <a:srgbClr val="1F265B"/>
    <a:srgbClr val="EDEFFF"/>
    <a:srgbClr val="4273CC"/>
    <a:srgbClr val="F3F7FA"/>
    <a:srgbClr val="F5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88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328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4T10:08:55.126" idx="3">
    <p:pos x="2516" y="1726"/>
    <p:text>위험성평가, 안전보건서약서, 안전보건관리규정, 안전보건관리비 첨부 필수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4T10:12:44.759" idx="4">
    <p:pos x="2285" y="2297"/>
    <p:text>아차사고, 기타사고, 산업재해조사표 등 올리는 곳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4T10:13:47.559" idx="5">
    <p:pos x="4047" y="1480"/>
    <p:text>팬오션 기준 협력업체 관리절차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4T10:14:10.709" idx="6">
    <p:pos x="4011" y="1706"/>
    <p:text>SOM 연동하여 사업자 등록번호로 조회 가능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4T10:14:53.843" idx="7">
    <p:pos x="4779" y="1698"/>
    <p:text>영세업체를 위한 안전보건 매뉴얼 등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4T10:15:27.509" idx="8">
    <p:pos x="4889" y="1475"/>
    <p:text>팬오션 위험성평가 공지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4T14:11:14.758" idx="9">
    <p:pos x="6442" y="2566"/>
    <p:text>1. 일반원칙
2. 계획수립
3. 구조 및 책임
4. 위험성평가
5. 안전점검
6. 이행확인
7. 교육 및 기록
8. 안전작업허가
9. 연락체계
10. 위험물질 및 설비
11. 비상대책
12. 산업재해현황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4T14:21:09.009" idx="11">
    <p:pos x="5611" y="1727"/>
    <p:text>공통코드 관리, 일일안전일지 등록 ex) 고박업, 하역업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4T14:22:42.561" idx="12">
    <p:pos x="5755" y="2823"/>
    <p:text>업종별 등록된 작업자에게 교육 내용 반영(DataBase기반)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5T15:42:01.835" idx="13">
    <p:pos x="5530" y="3612"/>
    <p:text>워크온 전산화, 운영현황
건강데이터 excel화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06T15:20:27.708" idx="16">
    <p:pos x="3531" y="1942"/>
    <p:text>사용부서 안전보건절차?</p:text>
    <p:extLst mod="1">
      <p:ext uri="{C676402C-5697-4E1C-873F-D02D1690AC5C}">
        <p15:threadingInfo xmlns:p15="http://schemas.microsoft.com/office/powerpoint/2012/main" timeZoneBias="-540"/>
      </p:ext>
    </p:extLst>
  </p:cm>
  <p:cm authorId="1" dt="2026-03-10T10:53:51.830" idx="20">
    <p:pos x="5701" y="3340"/>
    <p:text>내부직원용 (육해상 안전보건 예산, 해상직원 질병/부상 누적건수 및 재해율)</p:text>
    <p:extLst mod="1"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5T16:46:40.200" idx="15">
    <p:pos x="2775" y="142"/>
    <p:text>이 모든 개인정보 수집이용 동의서, 계약부서이름, 업종 의 내용은 내부 직원이 수정가능하도록</p:text>
    <p:extLst mod="1"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6T15:27:46.517" idx="17">
    <p:pos x="7066" y="1398"/>
    <p:text>교육이수증명서를 카카오톡으로 보낼 때, TBM일지 올리라는 추가 안내 넣기</p:text>
    <p:extLst>
      <p:ext uri="{C676402C-5697-4E1C-873F-D02D1690AC5C}">
        <p15:threadingInfo xmlns:p15="http://schemas.microsoft.com/office/powerpoint/2012/main" timeZoneBias="-540"/>
      </p:ext>
    </p:extLst>
  </p:cm>
  <p:cm authorId="1" dt="2026-03-06T15:30:35.407" idx="18">
    <p:pos x="7159" y="1613"/>
    <p:text>협력업체 직원이 카톡으로 TBM일지 송부하면 자동으로 database 등록 가능?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9T14:57:26.711" idx="19">
    <p:pos x="7240" y="1516"/>
    <p:text>최초 계약할 때도 안전보건 서약서 받고 수급업체가 승선신청할때도 서약서 작성 후 업로드 하기로 할건지??</p:text>
    <p:extLst>
      <p:ext uri="{C676402C-5697-4E1C-873F-D02D1690AC5C}">
        <p15:threadingInfo xmlns:p15="http://schemas.microsoft.com/office/powerpoint/2012/main" timeZoneBias="-5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01D8DC-26FD-4801-BB77-E4F749F40046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pPr latinLnBrk="1"/>
          <a:endParaRPr lang="ko-KR" altLang="en-US"/>
        </a:p>
      </dgm:t>
    </dgm:pt>
    <dgm:pt modelId="{71D122E0-4034-4A80-AC69-2B0D6DA9C579}">
      <dgm:prSet phldrT="[텍스트]" custT="1"/>
      <dgm:spPr/>
      <dgm:t>
        <a:bodyPr/>
        <a:lstStyle/>
        <a:p>
          <a:pPr latinLnBrk="1"/>
          <a:r>
            <a:rPr lang="ko-KR" altLang="en-US" sz="2000" dirty="0"/>
            <a:t>승선</a:t>
          </a:r>
          <a:r>
            <a:rPr lang="en-US" altLang="ko-KR" sz="2000" dirty="0"/>
            <a:t>(</a:t>
          </a:r>
          <a:r>
            <a:rPr lang="ko-KR" altLang="en-US" sz="2000" dirty="0"/>
            <a:t>방문</a:t>
          </a:r>
          <a:r>
            <a:rPr lang="en-US" altLang="ko-KR" sz="2000" dirty="0"/>
            <a:t>)</a:t>
          </a:r>
          <a:r>
            <a:rPr lang="ko-KR" altLang="en-US" sz="2000" dirty="0" smtClean="0"/>
            <a:t>신청</a:t>
          </a:r>
          <a:endParaRPr lang="en-US" altLang="ko-KR" sz="2000" dirty="0" smtClean="0"/>
        </a:p>
        <a:p>
          <a:pPr latinLnBrk="1"/>
          <a:r>
            <a:rPr lang="ko-KR" altLang="en-US" sz="1100" b="1" dirty="0" smtClean="0"/>
            <a:t>제출서류</a:t>
          </a:r>
          <a:r>
            <a:rPr lang="en-US" altLang="ko-KR" sz="1100" b="1" dirty="0" smtClean="0"/>
            <a:t>: </a:t>
          </a:r>
          <a:r>
            <a:rPr lang="ko-KR" altLang="ko-KR" sz="1100" b="1" dirty="0" err="1" smtClean="0"/>
            <a:t>위험성평가</a:t>
          </a:r>
          <a:r>
            <a:rPr lang="en-US" altLang="ko-KR" sz="1100" b="1" dirty="0" smtClean="0"/>
            <a:t>, </a:t>
          </a:r>
          <a:r>
            <a:rPr lang="ko-KR" altLang="ko-KR" sz="1100" b="1" dirty="0" smtClean="0"/>
            <a:t>안전보건서약서</a:t>
          </a:r>
          <a:r>
            <a:rPr lang="en-US" altLang="ko-KR" sz="1100" b="1" dirty="0" smtClean="0"/>
            <a:t>, </a:t>
          </a:r>
          <a:r>
            <a:rPr lang="ko-KR" altLang="en-US" sz="1100" b="1" dirty="0" err="1" smtClean="0"/>
            <a:t>작업계획서</a:t>
          </a:r>
          <a:endParaRPr lang="ko-KR" altLang="en-US" sz="1100" b="1" dirty="0"/>
        </a:p>
      </dgm:t>
    </dgm:pt>
    <dgm:pt modelId="{F3525C37-D1E2-46C7-9C76-27EE912D051C}" type="parTrans" cxnId="{10E17A95-2347-40F3-A4F0-0372ACF5F8DF}">
      <dgm:prSet/>
      <dgm:spPr/>
      <dgm:t>
        <a:bodyPr/>
        <a:lstStyle/>
        <a:p>
          <a:pPr latinLnBrk="1"/>
          <a:endParaRPr lang="ko-KR" altLang="en-US" sz="1000"/>
        </a:p>
      </dgm:t>
    </dgm:pt>
    <dgm:pt modelId="{A93BC05A-D3C1-444A-8023-A5E090099289}" type="sibTrans" cxnId="{10E17A95-2347-40F3-A4F0-0372ACF5F8DF}">
      <dgm:prSet/>
      <dgm:spPr/>
      <dgm:t>
        <a:bodyPr/>
        <a:lstStyle/>
        <a:p>
          <a:pPr latinLnBrk="1"/>
          <a:endParaRPr lang="ko-KR" altLang="en-US" sz="1000"/>
        </a:p>
      </dgm:t>
    </dgm:pt>
    <dgm:pt modelId="{2E7D8DFC-2DAE-4009-8643-87EEB391E4BD}">
      <dgm:prSet phldrT="[텍스트]" custT="1"/>
      <dgm:spPr/>
      <dgm:t>
        <a:bodyPr/>
        <a:lstStyle/>
        <a:p>
          <a:pPr latinLnBrk="1">
            <a:spcAft>
              <a:spcPts val="600"/>
            </a:spcAft>
          </a:pPr>
          <a:r>
            <a:rPr lang="ko-KR" altLang="en-US" sz="2000" dirty="0"/>
            <a:t>교육안내 송부</a:t>
          </a:r>
        </a:p>
        <a:p>
          <a:pPr latinLnBrk="1">
            <a:spcAft>
              <a:spcPct val="35000"/>
            </a:spcAft>
          </a:pPr>
          <a:r>
            <a:rPr lang="en-US" altLang="ko-KR" sz="1400" dirty="0"/>
            <a:t>(</a:t>
          </a:r>
          <a:r>
            <a:rPr lang="ko-KR" altLang="en-US" sz="1400" dirty="0"/>
            <a:t>교육 </a:t>
          </a:r>
          <a:r>
            <a:rPr lang="ko-KR" altLang="en-US" sz="1400" dirty="0" err="1"/>
            <a:t>미수료자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31DF05F4-9562-4F6E-B5B5-2D812E1BB322}" type="parTrans" cxnId="{7CD7469D-222E-4A52-B50E-871A0B26BB37}">
      <dgm:prSet/>
      <dgm:spPr/>
      <dgm:t>
        <a:bodyPr/>
        <a:lstStyle/>
        <a:p>
          <a:pPr latinLnBrk="1"/>
          <a:endParaRPr lang="ko-KR" altLang="en-US" sz="1000"/>
        </a:p>
      </dgm:t>
    </dgm:pt>
    <dgm:pt modelId="{08F6364D-72F6-4E59-9AEE-AC7033022F10}" type="sibTrans" cxnId="{7CD7469D-222E-4A52-B50E-871A0B26BB37}">
      <dgm:prSet/>
      <dgm:spPr/>
      <dgm:t>
        <a:bodyPr/>
        <a:lstStyle/>
        <a:p>
          <a:pPr latinLnBrk="1"/>
          <a:endParaRPr lang="ko-KR" altLang="en-US" sz="1000"/>
        </a:p>
      </dgm:t>
    </dgm:pt>
    <dgm:pt modelId="{879BDA3E-B8EF-4C78-8D0C-872E3BF3199F}">
      <dgm:prSet phldrT="[텍스트]" custT="1"/>
      <dgm:spPr/>
      <dgm:t>
        <a:bodyPr/>
        <a:lstStyle/>
        <a:p>
          <a:pPr latinLnBrk="1"/>
          <a:r>
            <a:rPr lang="ko-KR" altLang="en-US" sz="2000" dirty="0"/>
            <a:t>수신자 접속 및 교육 이수</a:t>
          </a:r>
          <a:endParaRPr lang="en-US" altLang="ko-KR" sz="2000" dirty="0"/>
        </a:p>
      </dgm:t>
    </dgm:pt>
    <dgm:pt modelId="{8562A84C-723A-4ECD-924F-0DAC75D7FCA8}" type="parTrans" cxnId="{19835210-B77E-4558-9D88-997F30CC4ADE}">
      <dgm:prSet/>
      <dgm:spPr/>
      <dgm:t>
        <a:bodyPr/>
        <a:lstStyle/>
        <a:p>
          <a:pPr latinLnBrk="1"/>
          <a:endParaRPr lang="ko-KR" altLang="en-US" sz="1000"/>
        </a:p>
      </dgm:t>
    </dgm:pt>
    <dgm:pt modelId="{9504AD58-C2A5-48C4-868F-561C649E745E}" type="sibTrans" cxnId="{19835210-B77E-4558-9D88-997F30CC4ADE}">
      <dgm:prSet/>
      <dgm:spPr/>
      <dgm:t>
        <a:bodyPr/>
        <a:lstStyle/>
        <a:p>
          <a:pPr latinLnBrk="1"/>
          <a:endParaRPr lang="ko-KR" altLang="en-US" sz="1000"/>
        </a:p>
      </dgm:t>
    </dgm:pt>
    <dgm:pt modelId="{19B83883-1C4B-42B5-AB12-9265D172FEFC}">
      <dgm:prSet phldrT="[텍스트]" custT="1"/>
      <dgm:spPr/>
      <dgm:t>
        <a:bodyPr/>
        <a:lstStyle/>
        <a:p>
          <a:pPr latinLnBrk="1"/>
          <a:r>
            <a:rPr lang="ko-KR" altLang="en-US" sz="2000" dirty="0"/>
            <a:t>교육이수</a:t>
          </a:r>
          <a:endParaRPr lang="en-US" altLang="ko-KR" sz="2000" dirty="0"/>
        </a:p>
        <a:p>
          <a:pPr latinLnBrk="1"/>
          <a:r>
            <a:rPr lang="ko-KR" altLang="en-US" sz="2000" dirty="0"/>
            <a:t>증명서 발급</a:t>
          </a:r>
        </a:p>
      </dgm:t>
    </dgm:pt>
    <dgm:pt modelId="{D1599F78-7FB8-4936-BA76-7AB2B6C52AE9}" type="parTrans" cxnId="{E00FE7C6-405E-46D5-A481-3819BB86CC6B}">
      <dgm:prSet/>
      <dgm:spPr/>
      <dgm:t>
        <a:bodyPr/>
        <a:lstStyle/>
        <a:p>
          <a:pPr latinLnBrk="1"/>
          <a:endParaRPr lang="ko-KR" altLang="en-US" sz="1000"/>
        </a:p>
      </dgm:t>
    </dgm:pt>
    <dgm:pt modelId="{A9535A6B-B3C7-458F-B92B-466A7B82A629}" type="sibTrans" cxnId="{E00FE7C6-405E-46D5-A481-3819BB86CC6B}">
      <dgm:prSet/>
      <dgm:spPr/>
      <dgm:t>
        <a:bodyPr/>
        <a:lstStyle/>
        <a:p>
          <a:pPr latinLnBrk="1"/>
          <a:endParaRPr lang="ko-KR" altLang="en-US" sz="1000"/>
        </a:p>
      </dgm:t>
    </dgm:pt>
    <dgm:pt modelId="{60030703-5A7F-4B27-982C-3202A8D81507}">
      <dgm:prSet phldrT="[텍스트]" custT="1"/>
      <dgm:spPr/>
      <dgm:t>
        <a:bodyPr/>
        <a:lstStyle/>
        <a:p>
          <a:pPr latinLnBrk="1"/>
          <a:r>
            <a:rPr lang="ko-KR" altLang="en-US" sz="2000" dirty="0"/>
            <a:t>선박 승선</a:t>
          </a:r>
          <a:endParaRPr lang="en-US" altLang="ko-KR" sz="2000" dirty="0"/>
        </a:p>
        <a:p>
          <a:pPr latinLnBrk="1"/>
          <a:r>
            <a:rPr lang="ko-KR" altLang="en-US" sz="2000" dirty="0"/>
            <a:t>사업장 방문</a:t>
          </a:r>
        </a:p>
      </dgm:t>
    </dgm:pt>
    <dgm:pt modelId="{283668AE-A6F9-41B2-8655-08BBD296571B}" type="parTrans" cxnId="{03E2647D-004F-4FDD-A0A0-03AA825A1594}">
      <dgm:prSet/>
      <dgm:spPr/>
      <dgm:t>
        <a:bodyPr/>
        <a:lstStyle/>
        <a:p>
          <a:pPr latinLnBrk="1"/>
          <a:endParaRPr lang="ko-KR" altLang="en-US" sz="1000"/>
        </a:p>
      </dgm:t>
    </dgm:pt>
    <dgm:pt modelId="{7A1A5E7F-B7BE-4CE7-B15D-54593BAD6A0A}" type="sibTrans" cxnId="{03E2647D-004F-4FDD-A0A0-03AA825A1594}">
      <dgm:prSet/>
      <dgm:spPr/>
      <dgm:t>
        <a:bodyPr/>
        <a:lstStyle/>
        <a:p>
          <a:pPr latinLnBrk="1"/>
          <a:endParaRPr lang="ko-KR" altLang="en-US" sz="1000"/>
        </a:p>
      </dgm:t>
    </dgm:pt>
    <dgm:pt modelId="{E4F6B138-485E-4002-AD1B-50E6A3EEDF16}">
      <dgm:prSet phldrT="[텍스트]" custT="1"/>
      <dgm:spPr/>
      <dgm:t>
        <a:bodyPr/>
        <a:lstStyle/>
        <a:p>
          <a:pPr latinLnBrk="1">
            <a:spcAft>
              <a:spcPts val="0"/>
            </a:spcAft>
          </a:pPr>
          <a:r>
            <a:rPr lang="ko-KR" altLang="en-US" sz="2000" dirty="0"/>
            <a:t>현문당직자</a:t>
          </a:r>
          <a:endParaRPr lang="en-US" altLang="ko-KR" sz="2000" dirty="0"/>
        </a:p>
        <a:p>
          <a:pPr latinLnBrk="1">
            <a:spcAft>
              <a:spcPts val="0"/>
            </a:spcAft>
          </a:pPr>
          <a:r>
            <a:rPr lang="ko-KR" altLang="en-US" sz="2000" dirty="0"/>
            <a:t>사업장 담당자</a:t>
          </a:r>
          <a:endParaRPr lang="en-US" altLang="ko-KR" sz="2000" dirty="0"/>
        </a:p>
        <a:p>
          <a:pPr latinLnBrk="1">
            <a:spcAft>
              <a:spcPct val="35000"/>
            </a:spcAft>
          </a:pPr>
          <a:r>
            <a:rPr lang="ko-KR" altLang="en-US" sz="2000" dirty="0"/>
            <a:t>증명서 확인</a:t>
          </a:r>
        </a:p>
      </dgm:t>
    </dgm:pt>
    <dgm:pt modelId="{5CF34552-7F46-4CB3-8294-228453C3E581}" type="parTrans" cxnId="{A2B37382-1C46-4300-B380-4F77603C33E6}">
      <dgm:prSet/>
      <dgm:spPr/>
      <dgm:t>
        <a:bodyPr/>
        <a:lstStyle/>
        <a:p>
          <a:pPr latinLnBrk="1"/>
          <a:endParaRPr lang="ko-KR" altLang="en-US" sz="1000"/>
        </a:p>
      </dgm:t>
    </dgm:pt>
    <dgm:pt modelId="{F3D35741-A688-41E1-B410-2537915C6D82}" type="sibTrans" cxnId="{A2B37382-1C46-4300-B380-4F77603C33E6}">
      <dgm:prSet/>
      <dgm:spPr/>
      <dgm:t>
        <a:bodyPr/>
        <a:lstStyle/>
        <a:p>
          <a:pPr latinLnBrk="1"/>
          <a:endParaRPr lang="ko-KR" altLang="en-US" sz="1000"/>
        </a:p>
      </dgm:t>
    </dgm:pt>
    <dgm:pt modelId="{20E20D11-9FBF-474F-B68F-40D16CE7AB45}">
      <dgm:prSet phldrT="[텍스트]" custT="1"/>
      <dgm:spPr/>
      <dgm:t>
        <a:bodyPr/>
        <a:lstStyle/>
        <a:p>
          <a:pPr latinLnBrk="1"/>
          <a:r>
            <a:rPr lang="en-US" altLang="ko-KR" sz="2000" dirty="0"/>
            <a:t>WORK</a:t>
          </a:r>
          <a:endParaRPr lang="ko-KR" altLang="en-US" sz="2000" dirty="0"/>
        </a:p>
      </dgm:t>
    </dgm:pt>
    <dgm:pt modelId="{995B55E1-AC32-472E-9C7E-898AE4327A24}" type="parTrans" cxnId="{853689F6-E353-4B26-B418-D15D803CF82E}">
      <dgm:prSet/>
      <dgm:spPr/>
      <dgm:t>
        <a:bodyPr/>
        <a:lstStyle/>
        <a:p>
          <a:pPr latinLnBrk="1"/>
          <a:endParaRPr lang="ko-KR" altLang="en-US" sz="1000"/>
        </a:p>
      </dgm:t>
    </dgm:pt>
    <dgm:pt modelId="{B68895E9-5BCF-4C40-B239-3F0B6E367F72}" type="sibTrans" cxnId="{853689F6-E353-4B26-B418-D15D803CF82E}">
      <dgm:prSet/>
      <dgm:spPr/>
      <dgm:t>
        <a:bodyPr/>
        <a:lstStyle/>
        <a:p>
          <a:pPr latinLnBrk="1"/>
          <a:endParaRPr lang="ko-KR" altLang="en-US" sz="1000"/>
        </a:p>
      </dgm:t>
    </dgm:pt>
    <dgm:pt modelId="{AB968F12-78C1-4FF3-9FCA-0DE1D526BB79}" type="pres">
      <dgm:prSet presAssocID="{5401D8DC-26FD-4801-BB77-E4F749F4004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EE0DC4B-A5E4-4272-942E-7B2713DCC95B}" type="pres">
      <dgm:prSet presAssocID="{71D122E0-4034-4A80-AC69-2B0D6DA9C579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62080F5-7745-4C57-9C40-5F05E0D78139}" type="pres">
      <dgm:prSet presAssocID="{A93BC05A-D3C1-444A-8023-A5E090099289}" presName="sibTrans" presStyleLbl="sibTrans2D1" presStyleIdx="0" presStyleCnt="6"/>
      <dgm:spPr/>
      <dgm:t>
        <a:bodyPr/>
        <a:lstStyle/>
        <a:p>
          <a:pPr latinLnBrk="1"/>
          <a:endParaRPr lang="ko-KR" altLang="en-US"/>
        </a:p>
      </dgm:t>
    </dgm:pt>
    <dgm:pt modelId="{B29B1109-2A33-4F15-A20F-EF37CB1EEA21}" type="pres">
      <dgm:prSet presAssocID="{A93BC05A-D3C1-444A-8023-A5E090099289}" presName="connectorText" presStyleLbl="sibTrans2D1" presStyleIdx="0" presStyleCnt="6"/>
      <dgm:spPr/>
      <dgm:t>
        <a:bodyPr/>
        <a:lstStyle/>
        <a:p>
          <a:pPr latinLnBrk="1"/>
          <a:endParaRPr lang="ko-KR" altLang="en-US"/>
        </a:p>
      </dgm:t>
    </dgm:pt>
    <dgm:pt modelId="{F7B20FC4-02D0-4B69-A955-F0143678A41B}" type="pres">
      <dgm:prSet presAssocID="{2E7D8DFC-2DAE-4009-8643-87EEB391E4BD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A58A7E7-498C-43D2-B520-28E92BE377B3}" type="pres">
      <dgm:prSet presAssocID="{08F6364D-72F6-4E59-9AEE-AC7033022F10}" presName="sibTrans" presStyleLbl="sibTrans2D1" presStyleIdx="1" presStyleCnt="6"/>
      <dgm:spPr/>
      <dgm:t>
        <a:bodyPr/>
        <a:lstStyle/>
        <a:p>
          <a:pPr latinLnBrk="1"/>
          <a:endParaRPr lang="ko-KR" altLang="en-US"/>
        </a:p>
      </dgm:t>
    </dgm:pt>
    <dgm:pt modelId="{0649DA82-B971-4D7F-86D0-18996EB74B2C}" type="pres">
      <dgm:prSet presAssocID="{08F6364D-72F6-4E59-9AEE-AC7033022F10}" presName="connectorText" presStyleLbl="sibTrans2D1" presStyleIdx="1" presStyleCnt="6"/>
      <dgm:spPr/>
      <dgm:t>
        <a:bodyPr/>
        <a:lstStyle/>
        <a:p>
          <a:pPr latinLnBrk="1"/>
          <a:endParaRPr lang="ko-KR" altLang="en-US"/>
        </a:p>
      </dgm:t>
    </dgm:pt>
    <dgm:pt modelId="{06E0CF57-38F5-4188-862E-376445884B29}" type="pres">
      <dgm:prSet presAssocID="{879BDA3E-B8EF-4C78-8D0C-872E3BF3199F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0BA8BE3-4A5E-460F-88AE-5BFD58117E78}" type="pres">
      <dgm:prSet presAssocID="{9504AD58-C2A5-48C4-868F-561C649E745E}" presName="sibTrans" presStyleLbl="sibTrans2D1" presStyleIdx="2" presStyleCnt="6"/>
      <dgm:spPr/>
      <dgm:t>
        <a:bodyPr/>
        <a:lstStyle/>
        <a:p>
          <a:pPr latinLnBrk="1"/>
          <a:endParaRPr lang="ko-KR" altLang="en-US"/>
        </a:p>
      </dgm:t>
    </dgm:pt>
    <dgm:pt modelId="{1DB233DC-5C51-44BE-B7C1-E6DA931364F1}" type="pres">
      <dgm:prSet presAssocID="{9504AD58-C2A5-48C4-868F-561C649E745E}" presName="connectorText" presStyleLbl="sibTrans2D1" presStyleIdx="2" presStyleCnt="6"/>
      <dgm:spPr/>
      <dgm:t>
        <a:bodyPr/>
        <a:lstStyle/>
        <a:p>
          <a:pPr latinLnBrk="1"/>
          <a:endParaRPr lang="ko-KR" altLang="en-US"/>
        </a:p>
      </dgm:t>
    </dgm:pt>
    <dgm:pt modelId="{4C614DDB-CABC-44E6-8723-381DB300A219}" type="pres">
      <dgm:prSet presAssocID="{19B83883-1C4B-42B5-AB12-9265D172FEFC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E8EC809-2268-4C3C-AB9C-1530119976DE}" type="pres">
      <dgm:prSet presAssocID="{A9535A6B-B3C7-458F-B92B-466A7B82A629}" presName="sibTrans" presStyleLbl="sibTrans2D1" presStyleIdx="3" presStyleCnt="6"/>
      <dgm:spPr/>
      <dgm:t>
        <a:bodyPr/>
        <a:lstStyle/>
        <a:p>
          <a:pPr latinLnBrk="1"/>
          <a:endParaRPr lang="ko-KR" altLang="en-US"/>
        </a:p>
      </dgm:t>
    </dgm:pt>
    <dgm:pt modelId="{0986CA0A-C05F-4D39-9D0D-64BF9BC75288}" type="pres">
      <dgm:prSet presAssocID="{A9535A6B-B3C7-458F-B92B-466A7B82A629}" presName="connectorText" presStyleLbl="sibTrans2D1" presStyleIdx="3" presStyleCnt="6"/>
      <dgm:spPr/>
      <dgm:t>
        <a:bodyPr/>
        <a:lstStyle/>
        <a:p>
          <a:pPr latinLnBrk="1"/>
          <a:endParaRPr lang="ko-KR" altLang="en-US"/>
        </a:p>
      </dgm:t>
    </dgm:pt>
    <dgm:pt modelId="{C3016C96-5BA3-45A3-AFB9-E15B3F6B5D2E}" type="pres">
      <dgm:prSet presAssocID="{60030703-5A7F-4B27-982C-3202A8D81507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CABB017-280E-4E3C-A747-8EB52AC627BE}" type="pres">
      <dgm:prSet presAssocID="{7A1A5E7F-B7BE-4CE7-B15D-54593BAD6A0A}" presName="sibTrans" presStyleLbl="sibTrans2D1" presStyleIdx="4" presStyleCnt="6"/>
      <dgm:spPr/>
      <dgm:t>
        <a:bodyPr/>
        <a:lstStyle/>
        <a:p>
          <a:pPr latinLnBrk="1"/>
          <a:endParaRPr lang="ko-KR" altLang="en-US"/>
        </a:p>
      </dgm:t>
    </dgm:pt>
    <dgm:pt modelId="{40B2422A-F4CE-4CA2-9D98-DF9701E98393}" type="pres">
      <dgm:prSet presAssocID="{7A1A5E7F-B7BE-4CE7-B15D-54593BAD6A0A}" presName="connectorText" presStyleLbl="sibTrans2D1" presStyleIdx="4" presStyleCnt="6"/>
      <dgm:spPr/>
      <dgm:t>
        <a:bodyPr/>
        <a:lstStyle/>
        <a:p>
          <a:pPr latinLnBrk="1"/>
          <a:endParaRPr lang="ko-KR" altLang="en-US"/>
        </a:p>
      </dgm:t>
    </dgm:pt>
    <dgm:pt modelId="{1F668390-6C91-4FBA-BC4B-6C572CC7EB81}" type="pres">
      <dgm:prSet presAssocID="{E4F6B138-485E-4002-AD1B-50E6A3EEDF16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C750C5E-61D2-48D3-B526-FBEA554F4DDC}" type="pres">
      <dgm:prSet presAssocID="{F3D35741-A688-41E1-B410-2537915C6D82}" presName="sibTrans" presStyleLbl="sibTrans2D1" presStyleIdx="5" presStyleCnt="6"/>
      <dgm:spPr/>
      <dgm:t>
        <a:bodyPr/>
        <a:lstStyle/>
        <a:p>
          <a:pPr latinLnBrk="1"/>
          <a:endParaRPr lang="ko-KR" altLang="en-US"/>
        </a:p>
      </dgm:t>
    </dgm:pt>
    <dgm:pt modelId="{D4052812-43B3-4C4A-AEBA-F59881730626}" type="pres">
      <dgm:prSet presAssocID="{F3D35741-A688-41E1-B410-2537915C6D82}" presName="connectorText" presStyleLbl="sibTrans2D1" presStyleIdx="5" presStyleCnt="6"/>
      <dgm:spPr/>
      <dgm:t>
        <a:bodyPr/>
        <a:lstStyle/>
        <a:p>
          <a:pPr latinLnBrk="1"/>
          <a:endParaRPr lang="ko-KR" altLang="en-US"/>
        </a:p>
      </dgm:t>
    </dgm:pt>
    <dgm:pt modelId="{9D1C08DC-5C48-4B49-9E56-2F7FDFB6729E}" type="pres">
      <dgm:prSet presAssocID="{20E20D11-9FBF-474F-B68F-40D16CE7AB45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C275039F-00CB-4F19-AC34-DB5D8FD8FB22}" type="presOf" srcId="{E4F6B138-485E-4002-AD1B-50E6A3EEDF16}" destId="{1F668390-6C91-4FBA-BC4B-6C572CC7EB81}" srcOrd="0" destOrd="0" presId="urn:microsoft.com/office/officeart/2005/8/layout/process5"/>
    <dgm:cxn modelId="{81C28E60-A386-4826-863B-AF629BEA80CE}" type="presOf" srcId="{5401D8DC-26FD-4801-BB77-E4F749F40046}" destId="{AB968F12-78C1-4FF3-9FCA-0DE1D526BB79}" srcOrd="0" destOrd="0" presId="urn:microsoft.com/office/officeart/2005/8/layout/process5"/>
    <dgm:cxn modelId="{86046249-B91F-41FF-9EC7-A816DCC05B6A}" type="presOf" srcId="{9504AD58-C2A5-48C4-868F-561C649E745E}" destId="{40BA8BE3-4A5E-460F-88AE-5BFD58117E78}" srcOrd="0" destOrd="0" presId="urn:microsoft.com/office/officeart/2005/8/layout/process5"/>
    <dgm:cxn modelId="{F35BA5D1-5A47-44A1-A3BC-2527663361BD}" type="presOf" srcId="{08F6364D-72F6-4E59-9AEE-AC7033022F10}" destId="{DA58A7E7-498C-43D2-B520-28E92BE377B3}" srcOrd="0" destOrd="0" presId="urn:microsoft.com/office/officeart/2005/8/layout/process5"/>
    <dgm:cxn modelId="{50DB4197-89F3-4924-B05B-1896686C5EDB}" type="presOf" srcId="{879BDA3E-B8EF-4C78-8D0C-872E3BF3199F}" destId="{06E0CF57-38F5-4188-862E-376445884B29}" srcOrd="0" destOrd="0" presId="urn:microsoft.com/office/officeart/2005/8/layout/process5"/>
    <dgm:cxn modelId="{19835210-B77E-4558-9D88-997F30CC4ADE}" srcId="{5401D8DC-26FD-4801-BB77-E4F749F40046}" destId="{879BDA3E-B8EF-4C78-8D0C-872E3BF3199F}" srcOrd="2" destOrd="0" parTransId="{8562A84C-723A-4ECD-924F-0DAC75D7FCA8}" sibTransId="{9504AD58-C2A5-48C4-868F-561C649E745E}"/>
    <dgm:cxn modelId="{ED92B4D4-142A-4570-BEA2-60CD3A57181F}" type="presOf" srcId="{F3D35741-A688-41E1-B410-2537915C6D82}" destId="{D4052812-43B3-4C4A-AEBA-F59881730626}" srcOrd="1" destOrd="0" presId="urn:microsoft.com/office/officeart/2005/8/layout/process5"/>
    <dgm:cxn modelId="{3BA4864D-6BCE-43C8-9895-7F9B5131462E}" type="presOf" srcId="{A93BC05A-D3C1-444A-8023-A5E090099289}" destId="{262080F5-7745-4C57-9C40-5F05E0D78139}" srcOrd="0" destOrd="0" presId="urn:microsoft.com/office/officeart/2005/8/layout/process5"/>
    <dgm:cxn modelId="{15A788F6-48C2-48D3-8FAA-F178C7976A90}" type="presOf" srcId="{08F6364D-72F6-4E59-9AEE-AC7033022F10}" destId="{0649DA82-B971-4D7F-86D0-18996EB74B2C}" srcOrd="1" destOrd="0" presId="urn:microsoft.com/office/officeart/2005/8/layout/process5"/>
    <dgm:cxn modelId="{853689F6-E353-4B26-B418-D15D803CF82E}" srcId="{5401D8DC-26FD-4801-BB77-E4F749F40046}" destId="{20E20D11-9FBF-474F-B68F-40D16CE7AB45}" srcOrd="6" destOrd="0" parTransId="{995B55E1-AC32-472E-9C7E-898AE4327A24}" sibTransId="{B68895E9-5BCF-4C40-B239-3F0B6E367F72}"/>
    <dgm:cxn modelId="{7CD7469D-222E-4A52-B50E-871A0B26BB37}" srcId="{5401D8DC-26FD-4801-BB77-E4F749F40046}" destId="{2E7D8DFC-2DAE-4009-8643-87EEB391E4BD}" srcOrd="1" destOrd="0" parTransId="{31DF05F4-9562-4F6E-B5B5-2D812E1BB322}" sibTransId="{08F6364D-72F6-4E59-9AEE-AC7033022F10}"/>
    <dgm:cxn modelId="{D5003258-1D0F-4012-B66D-558D2D92F19C}" type="presOf" srcId="{F3D35741-A688-41E1-B410-2537915C6D82}" destId="{3C750C5E-61D2-48D3-B526-FBEA554F4DDC}" srcOrd="0" destOrd="0" presId="urn:microsoft.com/office/officeart/2005/8/layout/process5"/>
    <dgm:cxn modelId="{509141BA-8C94-497C-8543-10480DAFB3BD}" type="presOf" srcId="{71D122E0-4034-4A80-AC69-2B0D6DA9C579}" destId="{0EE0DC4B-A5E4-4272-942E-7B2713DCC95B}" srcOrd="0" destOrd="0" presId="urn:microsoft.com/office/officeart/2005/8/layout/process5"/>
    <dgm:cxn modelId="{3F3F0BA1-A909-4C24-9030-BE92A960FB3F}" type="presOf" srcId="{7A1A5E7F-B7BE-4CE7-B15D-54593BAD6A0A}" destId="{0CABB017-280E-4E3C-A747-8EB52AC627BE}" srcOrd="0" destOrd="0" presId="urn:microsoft.com/office/officeart/2005/8/layout/process5"/>
    <dgm:cxn modelId="{5CDE4B61-F33F-4B20-B2AE-B78DA37AE272}" type="presOf" srcId="{7A1A5E7F-B7BE-4CE7-B15D-54593BAD6A0A}" destId="{40B2422A-F4CE-4CA2-9D98-DF9701E98393}" srcOrd="1" destOrd="0" presId="urn:microsoft.com/office/officeart/2005/8/layout/process5"/>
    <dgm:cxn modelId="{53B74CCF-20A4-47F8-AA29-5F814AEA49D4}" type="presOf" srcId="{20E20D11-9FBF-474F-B68F-40D16CE7AB45}" destId="{9D1C08DC-5C48-4B49-9E56-2F7FDFB6729E}" srcOrd="0" destOrd="0" presId="urn:microsoft.com/office/officeart/2005/8/layout/process5"/>
    <dgm:cxn modelId="{A2B37382-1C46-4300-B380-4F77603C33E6}" srcId="{5401D8DC-26FD-4801-BB77-E4F749F40046}" destId="{E4F6B138-485E-4002-AD1B-50E6A3EEDF16}" srcOrd="5" destOrd="0" parTransId="{5CF34552-7F46-4CB3-8294-228453C3E581}" sibTransId="{F3D35741-A688-41E1-B410-2537915C6D82}"/>
    <dgm:cxn modelId="{10E17A95-2347-40F3-A4F0-0372ACF5F8DF}" srcId="{5401D8DC-26FD-4801-BB77-E4F749F40046}" destId="{71D122E0-4034-4A80-AC69-2B0D6DA9C579}" srcOrd="0" destOrd="0" parTransId="{F3525C37-D1E2-46C7-9C76-27EE912D051C}" sibTransId="{A93BC05A-D3C1-444A-8023-A5E090099289}"/>
    <dgm:cxn modelId="{A0CF73BB-7425-4AB9-B696-2180B77E5CFA}" type="presOf" srcId="{2E7D8DFC-2DAE-4009-8643-87EEB391E4BD}" destId="{F7B20FC4-02D0-4B69-A955-F0143678A41B}" srcOrd="0" destOrd="0" presId="urn:microsoft.com/office/officeart/2005/8/layout/process5"/>
    <dgm:cxn modelId="{2CDD848E-A3B8-4AD3-A1BB-2C7D83DF9089}" type="presOf" srcId="{60030703-5A7F-4B27-982C-3202A8D81507}" destId="{C3016C96-5BA3-45A3-AFB9-E15B3F6B5D2E}" srcOrd="0" destOrd="0" presId="urn:microsoft.com/office/officeart/2005/8/layout/process5"/>
    <dgm:cxn modelId="{D231B2FD-BF14-4645-B82C-489683F3D251}" type="presOf" srcId="{19B83883-1C4B-42B5-AB12-9265D172FEFC}" destId="{4C614DDB-CABC-44E6-8723-381DB300A219}" srcOrd="0" destOrd="0" presId="urn:microsoft.com/office/officeart/2005/8/layout/process5"/>
    <dgm:cxn modelId="{F0405AF9-4CD1-4E6E-A12A-8FD70EBF9FD4}" type="presOf" srcId="{9504AD58-C2A5-48C4-868F-561C649E745E}" destId="{1DB233DC-5C51-44BE-B7C1-E6DA931364F1}" srcOrd="1" destOrd="0" presId="urn:microsoft.com/office/officeart/2005/8/layout/process5"/>
    <dgm:cxn modelId="{03E2647D-004F-4FDD-A0A0-03AA825A1594}" srcId="{5401D8DC-26FD-4801-BB77-E4F749F40046}" destId="{60030703-5A7F-4B27-982C-3202A8D81507}" srcOrd="4" destOrd="0" parTransId="{283668AE-A6F9-41B2-8655-08BBD296571B}" sibTransId="{7A1A5E7F-B7BE-4CE7-B15D-54593BAD6A0A}"/>
    <dgm:cxn modelId="{56E283E2-C1A8-4852-AF14-6A52C91EAAD1}" type="presOf" srcId="{A9535A6B-B3C7-458F-B92B-466A7B82A629}" destId="{AE8EC809-2268-4C3C-AB9C-1530119976DE}" srcOrd="0" destOrd="0" presId="urn:microsoft.com/office/officeart/2005/8/layout/process5"/>
    <dgm:cxn modelId="{8D306915-D141-4428-ABF0-E9E2C3B72601}" type="presOf" srcId="{A93BC05A-D3C1-444A-8023-A5E090099289}" destId="{B29B1109-2A33-4F15-A20F-EF37CB1EEA21}" srcOrd="1" destOrd="0" presId="urn:microsoft.com/office/officeart/2005/8/layout/process5"/>
    <dgm:cxn modelId="{90566FD9-E594-4232-8269-E559310D5264}" type="presOf" srcId="{A9535A6B-B3C7-458F-B92B-466A7B82A629}" destId="{0986CA0A-C05F-4D39-9D0D-64BF9BC75288}" srcOrd="1" destOrd="0" presId="urn:microsoft.com/office/officeart/2005/8/layout/process5"/>
    <dgm:cxn modelId="{E00FE7C6-405E-46D5-A481-3819BB86CC6B}" srcId="{5401D8DC-26FD-4801-BB77-E4F749F40046}" destId="{19B83883-1C4B-42B5-AB12-9265D172FEFC}" srcOrd="3" destOrd="0" parTransId="{D1599F78-7FB8-4936-BA76-7AB2B6C52AE9}" sibTransId="{A9535A6B-B3C7-458F-B92B-466A7B82A629}"/>
    <dgm:cxn modelId="{BF5F75C7-A3B7-4900-92D8-9EB7C9DBFD2A}" type="presParOf" srcId="{AB968F12-78C1-4FF3-9FCA-0DE1D526BB79}" destId="{0EE0DC4B-A5E4-4272-942E-7B2713DCC95B}" srcOrd="0" destOrd="0" presId="urn:microsoft.com/office/officeart/2005/8/layout/process5"/>
    <dgm:cxn modelId="{A52605DE-FB4C-41A9-8B8A-15F93FD13D35}" type="presParOf" srcId="{AB968F12-78C1-4FF3-9FCA-0DE1D526BB79}" destId="{262080F5-7745-4C57-9C40-5F05E0D78139}" srcOrd="1" destOrd="0" presId="urn:microsoft.com/office/officeart/2005/8/layout/process5"/>
    <dgm:cxn modelId="{BCE6C6E3-3F63-4890-A6FA-5B8D91D1F875}" type="presParOf" srcId="{262080F5-7745-4C57-9C40-5F05E0D78139}" destId="{B29B1109-2A33-4F15-A20F-EF37CB1EEA21}" srcOrd="0" destOrd="0" presId="urn:microsoft.com/office/officeart/2005/8/layout/process5"/>
    <dgm:cxn modelId="{566FF0D1-D2C9-414D-8341-6EA6B995257C}" type="presParOf" srcId="{AB968F12-78C1-4FF3-9FCA-0DE1D526BB79}" destId="{F7B20FC4-02D0-4B69-A955-F0143678A41B}" srcOrd="2" destOrd="0" presId="urn:microsoft.com/office/officeart/2005/8/layout/process5"/>
    <dgm:cxn modelId="{40F08139-CB5C-4807-A99B-AA8463E9958D}" type="presParOf" srcId="{AB968F12-78C1-4FF3-9FCA-0DE1D526BB79}" destId="{DA58A7E7-498C-43D2-B520-28E92BE377B3}" srcOrd="3" destOrd="0" presId="urn:microsoft.com/office/officeart/2005/8/layout/process5"/>
    <dgm:cxn modelId="{CAB6174E-A2F5-4020-9D28-20FD999EF2D9}" type="presParOf" srcId="{DA58A7E7-498C-43D2-B520-28E92BE377B3}" destId="{0649DA82-B971-4D7F-86D0-18996EB74B2C}" srcOrd="0" destOrd="0" presId="urn:microsoft.com/office/officeart/2005/8/layout/process5"/>
    <dgm:cxn modelId="{35F62820-A53B-46F9-8B20-30A1867DC654}" type="presParOf" srcId="{AB968F12-78C1-4FF3-9FCA-0DE1D526BB79}" destId="{06E0CF57-38F5-4188-862E-376445884B29}" srcOrd="4" destOrd="0" presId="urn:microsoft.com/office/officeart/2005/8/layout/process5"/>
    <dgm:cxn modelId="{FE2285AB-6C06-4B48-9520-701CA1868DB5}" type="presParOf" srcId="{AB968F12-78C1-4FF3-9FCA-0DE1D526BB79}" destId="{40BA8BE3-4A5E-460F-88AE-5BFD58117E78}" srcOrd="5" destOrd="0" presId="urn:microsoft.com/office/officeart/2005/8/layout/process5"/>
    <dgm:cxn modelId="{B9904618-7994-48B3-B970-906A88FDF806}" type="presParOf" srcId="{40BA8BE3-4A5E-460F-88AE-5BFD58117E78}" destId="{1DB233DC-5C51-44BE-B7C1-E6DA931364F1}" srcOrd="0" destOrd="0" presId="urn:microsoft.com/office/officeart/2005/8/layout/process5"/>
    <dgm:cxn modelId="{8BDD44FA-6753-464C-9A4D-F685B022051B}" type="presParOf" srcId="{AB968F12-78C1-4FF3-9FCA-0DE1D526BB79}" destId="{4C614DDB-CABC-44E6-8723-381DB300A219}" srcOrd="6" destOrd="0" presId="urn:microsoft.com/office/officeart/2005/8/layout/process5"/>
    <dgm:cxn modelId="{57601132-6773-4759-9C76-DC03F20FA275}" type="presParOf" srcId="{AB968F12-78C1-4FF3-9FCA-0DE1D526BB79}" destId="{AE8EC809-2268-4C3C-AB9C-1530119976DE}" srcOrd="7" destOrd="0" presId="urn:microsoft.com/office/officeart/2005/8/layout/process5"/>
    <dgm:cxn modelId="{C77B0B70-0657-4EF1-B645-350B99463237}" type="presParOf" srcId="{AE8EC809-2268-4C3C-AB9C-1530119976DE}" destId="{0986CA0A-C05F-4D39-9D0D-64BF9BC75288}" srcOrd="0" destOrd="0" presId="urn:microsoft.com/office/officeart/2005/8/layout/process5"/>
    <dgm:cxn modelId="{E010C074-AB64-416D-872A-16C7B5FEDA6E}" type="presParOf" srcId="{AB968F12-78C1-4FF3-9FCA-0DE1D526BB79}" destId="{C3016C96-5BA3-45A3-AFB9-E15B3F6B5D2E}" srcOrd="8" destOrd="0" presId="urn:microsoft.com/office/officeart/2005/8/layout/process5"/>
    <dgm:cxn modelId="{872CB066-43C2-4877-A5E2-87CEE4B936A1}" type="presParOf" srcId="{AB968F12-78C1-4FF3-9FCA-0DE1D526BB79}" destId="{0CABB017-280E-4E3C-A747-8EB52AC627BE}" srcOrd="9" destOrd="0" presId="urn:microsoft.com/office/officeart/2005/8/layout/process5"/>
    <dgm:cxn modelId="{325DC46C-C8CC-4E2A-AB63-08AD83EE6EDA}" type="presParOf" srcId="{0CABB017-280E-4E3C-A747-8EB52AC627BE}" destId="{40B2422A-F4CE-4CA2-9D98-DF9701E98393}" srcOrd="0" destOrd="0" presId="urn:microsoft.com/office/officeart/2005/8/layout/process5"/>
    <dgm:cxn modelId="{7CD4FEB4-966E-43A0-9534-861E220DE30E}" type="presParOf" srcId="{AB968F12-78C1-4FF3-9FCA-0DE1D526BB79}" destId="{1F668390-6C91-4FBA-BC4B-6C572CC7EB81}" srcOrd="10" destOrd="0" presId="urn:microsoft.com/office/officeart/2005/8/layout/process5"/>
    <dgm:cxn modelId="{B6F22CC5-4670-43C3-A8A3-55D91AA84057}" type="presParOf" srcId="{AB968F12-78C1-4FF3-9FCA-0DE1D526BB79}" destId="{3C750C5E-61D2-48D3-B526-FBEA554F4DDC}" srcOrd="11" destOrd="0" presId="urn:microsoft.com/office/officeart/2005/8/layout/process5"/>
    <dgm:cxn modelId="{AF551EA2-4C3D-40AF-A551-E07146006A10}" type="presParOf" srcId="{3C750C5E-61D2-48D3-B526-FBEA554F4DDC}" destId="{D4052812-43B3-4C4A-AEBA-F59881730626}" srcOrd="0" destOrd="0" presId="urn:microsoft.com/office/officeart/2005/8/layout/process5"/>
    <dgm:cxn modelId="{A7606CC2-0BEE-42AF-9CE0-172944B7B9C0}" type="presParOf" srcId="{AB968F12-78C1-4FF3-9FCA-0DE1D526BB79}" destId="{9D1C08DC-5C48-4B49-9E56-2F7FDFB6729E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0DC4B-A5E4-4272-942E-7B2713DCC95B}">
      <dsp:nvSpPr>
        <dsp:cNvPr id="0" name=""/>
        <dsp:cNvSpPr/>
      </dsp:nvSpPr>
      <dsp:spPr>
        <a:xfrm>
          <a:off x="4830" y="283856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/>
            <a:t>승선</a:t>
          </a:r>
          <a:r>
            <a:rPr lang="en-US" altLang="ko-KR" sz="2000" kern="1200" dirty="0"/>
            <a:t>(</a:t>
          </a:r>
          <a:r>
            <a:rPr lang="ko-KR" altLang="en-US" sz="2000" kern="1200" dirty="0"/>
            <a:t>방문</a:t>
          </a:r>
          <a:r>
            <a:rPr lang="en-US" altLang="ko-KR" sz="2000" kern="1200" dirty="0"/>
            <a:t>)</a:t>
          </a:r>
          <a:r>
            <a:rPr lang="ko-KR" altLang="en-US" sz="2000" kern="1200" dirty="0" smtClean="0"/>
            <a:t>신청</a:t>
          </a:r>
          <a:endParaRPr lang="en-US" altLang="ko-KR" sz="2000" kern="1200" dirty="0" smtClean="0"/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b="1" kern="1200" dirty="0" smtClean="0"/>
            <a:t>제출서류</a:t>
          </a:r>
          <a:r>
            <a:rPr lang="en-US" altLang="ko-KR" sz="1100" b="1" kern="1200" dirty="0" smtClean="0"/>
            <a:t>: </a:t>
          </a:r>
          <a:r>
            <a:rPr lang="ko-KR" altLang="ko-KR" sz="1100" b="1" kern="1200" dirty="0" err="1" smtClean="0"/>
            <a:t>위험성평가</a:t>
          </a:r>
          <a:r>
            <a:rPr lang="en-US" altLang="ko-KR" sz="1100" b="1" kern="1200" dirty="0" smtClean="0"/>
            <a:t>, </a:t>
          </a:r>
          <a:r>
            <a:rPr lang="ko-KR" altLang="ko-KR" sz="1100" b="1" kern="1200" dirty="0" smtClean="0"/>
            <a:t>안전보건서약서</a:t>
          </a:r>
          <a:r>
            <a:rPr lang="en-US" altLang="ko-KR" sz="1100" b="1" kern="1200" dirty="0" smtClean="0"/>
            <a:t>, </a:t>
          </a:r>
          <a:r>
            <a:rPr lang="ko-KR" altLang="en-US" sz="1100" b="1" kern="1200" dirty="0" err="1" smtClean="0"/>
            <a:t>작업계획서</a:t>
          </a:r>
          <a:endParaRPr lang="ko-KR" altLang="en-US" sz="1100" b="1" kern="1200" dirty="0"/>
        </a:p>
      </dsp:txBody>
      <dsp:txXfrm>
        <a:off x="41948" y="320974"/>
        <a:ext cx="2037908" cy="1193050"/>
      </dsp:txXfrm>
    </dsp:sp>
    <dsp:sp modelId="{262080F5-7745-4C57-9C40-5F05E0D78139}">
      <dsp:nvSpPr>
        <dsp:cNvPr id="0" name=""/>
        <dsp:cNvSpPr/>
      </dsp:nvSpPr>
      <dsp:spPr>
        <a:xfrm>
          <a:off x="2302844" y="655594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500" kern="1200"/>
        </a:p>
      </dsp:txBody>
      <dsp:txXfrm>
        <a:off x="2302844" y="760356"/>
        <a:ext cx="313442" cy="314287"/>
      </dsp:txXfrm>
    </dsp:sp>
    <dsp:sp modelId="{F7B20FC4-02D0-4B69-A955-F0143678A41B}">
      <dsp:nvSpPr>
        <dsp:cNvPr id="0" name=""/>
        <dsp:cNvSpPr/>
      </dsp:nvSpPr>
      <dsp:spPr>
        <a:xfrm>
          <a:off x="2961833" y="283856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ko-KR" altLang="en-US" sz="2000" kern="1200" dirty="0"/>
            <a:t>교육안내 송부</a:t>
          </a:r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dirty="0"/>
            <a:t>(</a:t>
          </a:r>
          <a:r>
            <a:rPr lang="ko-KR" altLang="en-US" sz="1400" kern="1200" dirty="0"/>
            <a:t>교육 </a:t>
          </a:r>
          <a:r>
            <a:rPr lang="ko-KR" altLang="en-US" sz="1400" kern="1200" dirty="0" err="1"/>
            <a:t>미수료자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2998951" y="320974"/>
        <a:ext cx="2037908" cy="1193050"/>
      </dsp:txXfrm>
    </dsp:sp>
    <dsp:sp modelId="{DA58A7E7-498C-43D2-B520-28E92BE377B3}">
      <dsp:nvSpPr>
        <dsp:cNvPr id="0" name=""/>
        <dsp:cNvSpPr/>
      </dsp:nvSpPr>
      <dsp:spPr>
        <a:xfrm>
          <a:off x="5259846" y="655594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500" kern="1200"/>
        </a:p>
      </dsp:txBody>
      <dsp:txXfrm>
        <a:off x="5259846" y="760356"/>
        <a:ext cx="313442" cy="314287"/>
      </dsp:txXfrm>
    </dsp:sp>
    <dsp:sp modelId="{06E0CF57-38F5-4188-862E-376445884B29}">
      <dsp:nvSpPr>
        <dsp:cNvPr id="0" name=""/>
        <dsp:cNvSpPr/>
      </dsp:nvSpPr>
      <dsp:spPr>
        <a:xfrm>
          <a:off x="5918835" y="283856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/>
            <a:t>수신자 접속 및 교육 이수</a:t>
          </a:r>
          <a:endParaRPr lang="en-US" altLang="ko-KR" sz="2000" kern="1200" dirty="0"/>
        </a:p>
      </dsp:txBody>
      <dsp:txXfrm>
        <a:off x="5955953" y="320974"/>
        <a:ext cx="2037908" cy="1193050"/>
      </dsp:txXfrm>
    </dsp:sp>
    <dsp:sp modelId="{40BA8BE3-4A5E-460F-88AE-5BFD58117E78}">
      <dsp:nvSpPr>
        <dsp:cNvPr id="0" name=""/>
        <dsp:cNvSpPr/>
      </dsp:nvSpPr>
      <dsp:spPr>
        <a:xfrm>
          <a:off x="8216849" y="655594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500" kern="1200"/>
        </a:p>
      </dsp:txBody>
      <dsp:txXfrm>
        <a:off x="8216849" y="760356"/>
        <a:ext cx="313442" cy="314287"/>
      </dsp:txXfrm>
    </dsp:sp>
    <dsp:sp modelId="{4C614DDB-CABC-44E6-8723-381DB300A219}">
      <dsp:nvSpPr>
        <dsp:cNvPr id="0" name=""/>
        <dsp:cNvSpPr/>
      </dsp:nvSpPr>
      <dsp:spPr>
        <a:xfrm>
          <a:off x="8875838" y="283856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/>
            <a:t>교육이수</a:t>
          </a:r>
          <a:endParaRPr lang="en-US" altLang="ko-KR" sz="2000" kern="1200" dirty="0"/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/>
            <a:t>증명서 발급</a:t>
          </a:r>
        </a:p>
      </dsp:txBody>
      <dsp:txXfrm>
        <a:off x="8912956" y="320974"/>
        <a:ext cx="2037908" cy="1193050"/>
      </dsp:txXfrm>
    </dsp:sp>
    <dsp:sp modelId="{AE8EC809-2268-4C3C-AB9C-1530119976DE}">
      <dsp:nvSpPr>
        <dsp:cNvPr id="0" name=""/>
        <dsp:cNvSpPr/>
      </dsp:nvSpPr>
      <dsp:spPr>
        <a:xfrm rot="5400000">
          <a:off x="9708023" y="1698993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500" kern="1200"/>
        </a:p>
      </dsp:txBody>
      <dsp:txXfrm rot="-5400000">
        <a:off x="9774767" y="1737011"/>
        <a:ext cx="314287" cy="313442"/>
      </dsp:txXfrm>
    </dsp:sp>
    <dsp:sp modelId="{C3016C96-5BA3-45A3-AFB9-E15B3F6B5D2E}">
      <dsp:nvSpPr>
        <dsp:cNvPr id="0" name=""/>
        <dsp:cNvSpPr/>
      </dsp:nvSpPr>
      <dsp:spPr>
        <a:xfrm>
          <a:off x="8875838" y="2396001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/>
            <a:t>선박 승선</a:t>
          </a:r>
          <a:endParaRPr lang="en-US" altLang="ko-KR" sz="2000" kern="1200" dirty="0"/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/>
            <a:t>사업장 방문</a:t>
          </a:r>
        </a:p>
      </dsp:txBody>
      <dsp:txXfrm>
        <a:off x="8912956" y="2433119"/>
        <a:ext cx="2037908" cy="1193050"/>
      </dsp:txXfrm>
    </dsp:sp>
    <dsp:sp modelId="{0CABB017-280E-4E3C-A747-8EB52AC627BE}">
      <dsp:nvSpPr>
        <dsp:cNvPr id="0" name=""/>
        <dsp:cNvSpPr/>
      </dsp:nvSpPr>
      <dsp:spPr>
        <a:xfrm rot="10800000">
          <a:off x="8242195" y="2767738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500" kern="1200"/>
        </a:p>
      </dsp:txBody>
      <dsp:txXfrm rot="10800000">
        <a:off x="8376527" y="2872500"/>
        <a:ext cx="313442" cy="314287"/>
      </dsp:txXfrm>
    </dsp:sp>
    <dsp:sp modelId="{1F668390-6C91-4FBA-BC4B-6C572CC7EB81}">
      <dsp:nvSpPr>
        <dsp:cNvPr id="0" name=""/>
        <dsp:cNvSpPr/>
      </dsp:nvSpPr>
      <dsp:spPr>
        <a:xfrm>
          <a:off x="5918835" y="2396001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ko-KR" altLang="en-US" sz="2000" kern="1200" dirty="0"/>
            <a:t>현문당직자</a:t>
          </a:r>
          <a:endParaRPr lang="en-US" altLang="ko-KR" sz="2000" kern="1200" dirty="0"/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ko-KR" altLang="en-US" sz="2000" kern="1200" dirty="0"/>
            <a:t>사업장 담당자</a:t>
          </a:r>
          <a:endParaRPr lang="en-US" altLang="ko-KR" sz="2000" kern="1200" dirty="0"/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/>
            <a:t>증명서 확인</a:t>
          </a:r>
        </a:p>
      </dsp:txBody>
      <dsp:txXfrm>
        <a:off x="5955953" y="2433119"/>
        <a:ext cx="2037908" cy="1193050"/>
      </dsp:txXfrm>
    </dsp:sp>
    <dsp:sp modelId="{3C750C5E-61D2-48D3-B526-FBEA554F4DDC}">
      <dsp:nvSpPr>
        <dsp:cNvPr id="0" name=""/>
        <dsp:cNvSpPr/>
      </dsp:nvSpPr>
      <dsp:spPr>
        <a:xfrm rot="10800000">
          <a:off x="5285192" y="2767738"/>
          <a:ext cx="447774" cy="52381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500" kern="1200"/>
        </a:p>
      </dsp:txBody>
      <dsp:txXfrm rot="10800000">
        <a:off x="5419524" y="2872500"/>
        <a:ext cx="313442" cy="314287"/>
      </dsp:txXfrm>
    </dsp:sp>
    <dsp:sp modelId="{9D1C08DC-5C48-4B49-9E56-2F7FDFB6729E}">
      <dsp:nvSpPr>
        <dsp:cNvPr id="0" name=""/>
        <dsp:cNvSpPr/>
      </dsp:nvSpPr>
      <dsp:spPr>
        <a:xfrm>
          <a:off x="2961833" y="2396001"/>
          <a:ext cx="2112144" cy="126728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kern="1200" dirty="0"/>
            <a:t>WORK</a:t>
          </a:r>
          <a:endParaRPr lang="ko-KR" altLang="en-US" sz="2000" kern="1200" dirty="0"/>
        </a:p>
      </dsp:txBody>
      <dsp:txXfrm>
        <a:off x="2998951" y="2433119"/>
        <a:ext cx="2037908" cy="1193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1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4BBA0-2A31-4C09-BB3B-4DF6D07A162C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014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4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E4C11-A7B1-4CA5-8A66-B3C522B711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4687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1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45C84-1554-4281-9D32-79D01D79305B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1900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4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014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8543" y="943117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4FA03-EB8D-45CF-8DC8-AC28F517A12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11259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A219F-3455-4145-80BE-D9577293B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A16BB1-3388-4917-AA5E-853A12178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781FBD-8FAA-418C-86A2-7BEE1E83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3A9ED-C8FC-4F42-B58D-9D06C6BDE211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C1D5A-9B8A-45B8-97D4-AB75B885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75507C-960A-42DE-834F-EFFCD057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5B23757-29F9-4071-9F13-487846FD0506}"/>
              </a:ext>
            </a:extLst>
          </p:cNvPr>
          <p:cNvCxnSpPr/>
          <p:nvPr userDrawn="1"/>
        </p:nvCxnSpPr>
        <p:spPr>
          <a:xfrm>
            <a:off x="0" y="847898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27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4D964-9471-4D0C-A10B-5A9002EE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6E807-4D5E-4C5E-8C44-71C1C379B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3966B6-A727-4290-A863-85BD60155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F4797-39D6-4602-8EAF-AE590629D813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ACA23F-AAF5-41AB-8D91-E397C135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A99762-724D-42C7-9F1D-F411A3B0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73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94031-D9D1-476E-A610-6B1ADDBA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41D1A8-9DFB-405C-9BA1-623C90706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1C8141-7D9F-4A2E-BF3A-6BF2EF0D1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F05A2-84C3-4BFF-AD14-4ABAB15B7F1B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213B43-92C7-4294-AF50-099752F6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E1848D-0DDC-4777-8115-D5DD1D04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2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B1659-F202-4C7E-9B79-51717A2E3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8FA4F0-B29C-4A33-A0E8-35FD459A9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FB7967-152A-4092-99C5-D9258461D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690D14-A93D-44E8-AB2D-B0523892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9DA9A-FE81-4B2A-ADA9-A8D529F5FDD7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FB8312-028B-47B5-926C-423567A0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6342A9-25D1-4DFF-8015-90EE30F4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8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42408-069C-48A7-A9BF-7C0ACBBE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3ED793-9907-4E54-981B-FDEB846D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655377-68E5-4F0A-86DC-90559629E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CBA3D9-2002-4791-B64D-17A0DD3C9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0258DD-19AB-45D6-A52A-6172F47EC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3F9550-CE4B-4AD8-AD41-230B206D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6D92-8047-40F5-BCDB-676C9696DF60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63C6A4-45DA-4446-8525-0BB8331B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2C2E61-A619-4803-A0CE-BC40BAB9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09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38559-E619-4E62-92A1-DFE73A77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DD3092-A4D7-4C56-9217-C78881D3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B8553-341E-4FBB-AFF9-A8925A5754B2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1618F3-F85D-4943-AE29-922952D2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293337-35CD-45B9-8322-DF60D45B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56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7A2E66-97C3-4E1E-9257-168237F7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48845-50D4-46F5-8509-74E160D2416B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79F41F-F6F7-47B0-82F1-CBA16BB4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3BA8B-7F4B-4D98-8030-C49D91F4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62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89094-76DD-49E3-A2DA-30DD9DB9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734341-73E7-4C91-AB27-4E33CE5B0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38CC9D-ED9F-439C-9501-D7BA21F40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66CDC4-CDB1-47D6-8FEB-1BF34C81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15BF-1F19-4FC2-A6B1-F9569B463584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FDF1E1-EE96-4D7D-B253-A1104955E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43669D-CDB6-417E-8AA5-1A7335AE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84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5A958-A33A-4272-BFD5-949461C7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7C1AD4-2799-46A8-BF97-06DC66522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C6A9D8-24DA-4C2B-BBCA-A2B92281F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2C06F6-3E87-4FCA-8E3A-A3369E892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059E4-6A56-4499-95E5-E5D0EA6A7754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5D0BBC-A8E1-44D8-A6AA-D3758FB0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32D939-6264-4A6A-8D64-10D4E93E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50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8A999-3E31-42B6-8C1F-7AF50DD2A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606BF3-4624-47CC-8C7E-3A97AAC1E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97A31-D808-4AC6-8EBD-5D954CE4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90D9-8485-40D4-BEED-49E96773E7B7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F6F0EC-998D-4A8B-95D4-D559735A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4F288-A32F-4291-B699-6BD15DD1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78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61E26D-282D-4DA5-9AD6-D459458D99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E3EF4D-CA15-4A75-83AE-D75E5D0BF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71C3C0-9AED-49AD-B5CF-A972289E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1A6-99DA-4163-8D86-ADECD913DE1E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371733-2FB9-483D-BA91-EAB64B17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148B11-E42F-4D44-8D04-450DF744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60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A00747-75BC-492F-9688-63129D85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6B45-E53C-4EBA-A3CD-9F1706A8F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96A49-DA1F-4658-B5F3-487DF20AE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B075D-6267-43D8-B694-B62BCC52EA41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6A839-2716-4FC7-9719-F41AD4C56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CF911-E040-4663-9A76-EE1BEFC83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879F9-35B3-4A1C-8E90-6D5CC1501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60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omments" Target="../comments/comment3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woierqo@dongbong.com" TargetMode="External"/><Relationship Id="rId2" Type="http://schemas.openxmlformats.org/officeDocument/2006/relationships/hyperlink" Target="mailto:dqiwejo@csc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kdjfqowe@sebong.com" TargetMode="External"/><Relationship Id="rId4" Type="http://schemas.openxmlformats.org/officeDocument/2006/relationships/hyperlink" Target="mailto:dfwf@naver.com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sihyun@csc.com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hyperlink" Target="mailto:sihyun@csc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076587" y="2514275"/>
            <a:ext cx="103743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 smtClean="0"/>
              <a:t>협력업체 안전보건관리 </a:t>
            </a:r>
            <a:r>
              <a:rPr lang="en-US" altLang="ko-KR" sz="6600" b="1" dirty="0" err="1" smtClean="0"/>
              <a:t>Dx</a:t>
            </a:r>
            <a:endParaRPr lang="ko-KR" altLang="en-US" sz="66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02" y="5349599"/>
            <a:ext cx="3608272" cy="13038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72926" y="3842436"/>
            <a:ext cx="4432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안전경영실 안전경영팀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610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안전보건 </a:t>
            </a:r>
            <a:r>
              <a:rPr lang="en-US" altLang="ko-KR" sz="2800" b="1" dirty="0"/>
              <a:t>Portal </a:t>
            </a:r>
            <a:r>
              <a:rPr lang="ko-KR" altLang="en-US" sz="2800" b="1" dirty="0"/>
              <a:t>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09637-2096-4842-BD70-387B6F8A90DA}"/>
              </a:ext>
            </a:extLst>
          </p:cNvPr>
          <p:cNvSpPr txBox="1"/>
          <p:nvPr/>
        </p:nvSpPr>
        <p:spPr>
          <a:xfrm>
            <a:off x="505707" y="1733857"/>
            <a:ext cx="633615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 smtClean="0"/>
              <a:t>포털 구성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안</a:t>
            </a:r>
            <a:r>
              <a:rPr lang="en-US" altLang="ko-KR" sz="2000" dirty="0" smtClean="0"/>
              <a:t>) (2-4 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 smtClean="0"/>
              <a:t>가입 </a:t>
            </a:r>
            <a:r>
              <a:rPr lang="ko-KR" altLang="en-US" sz="2000" dirty="0"/>
              <a:t>및 </a:t>
            </a:r>
            <a:r>
              <a:rPr lang="ko-KR" altLang="en-US" sz="2000" dirty="0" smtClean="0"/>
              <a:t>로그인 </a:t>
            </a:r>
            <a:r>
              <a:rPr lang="en-US" altLang="ko-KR" sz="2000" dirty="0" smtClean="0"/>
              <a:t>(5-8 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 smtClean="0"/>
              <a:t>소개 </a:t>
            </a:r>
            <a:r>
              <a:rPr lang="en-US" altLang="ko-KR" sz="2000" dirty="0" smtClean="0"/>
              <a:t>(9 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 smtClean="0"/>
              <a:t>사업장 안전보건 </a:t>
            </a:r>
            <a:r>
              <a:rPr lang="en-US" altLang="ko-KR" sz="2000" dirty="0" smtClean="0"/>
              <a:t>- </a:t>
            </a:r>
            <a:r>
              <a:rPr lang="ko-KR" altLang="en-US" sz="2000" dirty="0" smtClean="0"/>
              <a:t>협력업체 사용</a:t>
            </a:r>
            <a:r>
              <a:rPr lang="en-US" altLang="ko-KR" sz="2000" dirty="0" smtClean="0"/>
              <a:t> (</a:t>
            </a:r>
            <a:r>
              <a:rPr lang="en-US" altLang="ko-KR" sz="2000" dirty="0" smtClean="0"/>
              <a:t>10-16 </a:t>
            </a:r>
            <a:r>
              <a:rPr lang="en-US" altLang="ko-KR" sz="2000" dirty="0" smtClean="0"/>
              <a:t>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FontTx/>
              <a:buAutoNum type="arabicPeriod"/>
            </a:pPr>
            <a:r>
              <a:rPr lang="ko-KR" altLang="en-US" sz="2000" dirty="0" smtClean="0"/>
              <a:t>협력업체 안전보건 </a:t>
            </a:r>
            <a:r>
              <a:rPr lang="en-US" altLang="ko-KR" sz="2000" dirty="0" smtClean="0"/>
              <a:t>- </a:t>
            </a:r>
            <a:r>
              <a:rPr lang="ko-KR" altLang="en-US" sz="2000" dirty="0" err="1" smtClean="0"/>
              <a:t>계약부서</a:t>
            </a:r>
            <a:r>
              <a:rPr lang="ko-KR" altLang="en-US" sz="2000" dirty="0" smtClean="0"/>
              <a:t> 사용</a:t>
            </a:r>
            <a:r>
              <a:rPr lang="en-US" altLang="ko-KR" sz="2000" dirty="0" smtClean="0"/>
              <a:t> </a:t>
            </a:r>
            <a:r>
              <a:rPr lang="en-US" altLang="ko-KR" sz="2000" dirty="0"/>
              <a:t>(</a:t>
            </a:r>
            <a:r>
              <a:rPr lang="en-US" altLang="ko-KR" sz="2000" dirty="0" smtClean="0"/>
              <a:t>17-19 </a:t>
            </a:r>
            <a:r>
              <a:rPr lang="en-US" altLang="ko-KR" sz="2000" dirty="0"/>
              <a:t>page</a:t>
            </a:r>
            <a:r>
              <a:rPr lang="en-US" altLang="ko-KR" sz="2000" dirty="0" smtClean="0"/>
              <a:t>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 smtClean="0"/>
              <a:t>공지사항 </a:t>
            </a:r>
            <a:r>
              <a:rPr lang="en-US" altLang="ko-KR" sz="2000" dirty="0" smtClean="0"/>
              <a:t>(</a:t>
            </a:r>
            <a:r>
              <a:rPr lang="en-US" altLang="ko-KR" sz="2000" dirty="0" smtClean="0"/>
              <a:t>20</a:t>
            </a:r>
            <a:r>
              <a:rPr lang="en-US" altLang="ko-KR" sz="2000" dirty="0" smtClean="0"/>
              <a:t> </a:t>
            </a:r>
            <a:r>
              <a:rPr lang="en-US" altLang="ko-KR" sz="2000" dirty="0" smtClean="0"/>
              <a:t>page)</a:t>
            </a:r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 smtClean="0"/>
              <a:t>관리자 </a:t>
            </a:r>
            <a:r>
              <a:rPr lang="en-US" altLang="ko-KR" sz="2000" dirty="0" smtClean="0"/>
              <a:t>(</a:t>
            </a:r>
            <a:r>
              <a:rPr lang="en-US" altLang="ko-KR" sz="2000" dirty="0" smtClean="0"/>
              <a:t>21-30 </a:t>
            </a:r>
            <a:r>
              <a:rPr lang="en-US" altLang="ko-KR" sz="2000" dirty="0" smtClean="0"/>
              <a:t>page)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09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포털 구성</a:t>
            </a:r>
            <a:r>
              <a:rPr lang="en-US" altLang="ko-KR" sz="2800" b="1" dirty="0" smtClean="0"/>
              <a:t>(</a:t>
            </a:r>
            <a:r>
              <a:rPr lang="ko-KR" altLang="en-US" sz="2800" b="1" dirty="0" smtClean="0"/>
              <a:t>안</a:t>
            </a:r>
            <a:r>
              <a:rPr lang="en-US" altLang="ko-KR" sz="2800" b="1" dirty="0" smtClean="0"/>
              <a:t>) </a:t>
            </a:r>
            <a:r>
              <a:rPr lang="en-US" altLang="ko-KR" dirty="0" smtClean="0"/>
              <a:t>(1/3)</a:t>
            </a:r>
            <a:endParaRPr lang="ko-KR" altLang="en-US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FBDC6A-4CB6-4A93-A9F6-323E60AAB904}"/>
              </a:ext>
            </a:extLst>
          </p:cNvPr>
          <p:cNvSpPr/>
          <p:nvPr/>
        </p:nvSpPr>
        <p:spPr>
          <a:xfrm>
            <a:off x="450250" y="895445"/>
            <a:ext cx="4183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○ 첫 화면</a:t>
            </a:r>
            <a:endParaRPr lang="en-US" altLang="ko-KR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050" name="Picture 2" descr="새로운 사이드바 U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82" y="1660072"/>
            <a:ext cx="2286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화살표 연결선 2"/>
          <p:cNvCxnSpPr/>
          <p:nvPr/>
        </p:nvCxnSpPr>
        <p:spPr>
          <a:xfrm flipV="1">
            <a:off x="2142114" y="2743200"/>
            <a:ext cx="1299764" cy="15620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rot="18602666">
            <a:off x="2401415" y="3612511"/>
            <a:ext cx="101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클릭시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878" y="1264558"/>
            <a:ext cx="8285932" cy="5456917"/>
          </a:xfrm>
          <a:prstGeom prst="rect">
            <a:avLst/>
          </a:prstGeom>
        </p:spPr>
      </p:pic>
      <p:sp>
        <p:nvSpPr>
          <p:cNvPr id="10" name="사각형 설명선 9"/>
          <p:cNvSpPr/>
          <p:nvPr/>
        </p:nvSpPr>
        <p:spPr>
          <a:xfrm>
            <a:off x="5853952" y="305106"/>
            <a:ext cx="4563035" cy="755009"/>
          </a:xfrm>
          <a:prstGeom prst="wedgeRectCallout">
            <a:avLst>
              <a:gd name="adj1" fmla="val 19836"/>
              <a:gd name="adj2" fmla="val 10389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개선요청에도 불응하거나 자료제출이 지속적으로 미흡한 업체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동종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동규모</a:t>
            </a:r>
            <a:r>
              <a:rPr lang="ko-KR" altLang="en-US" sz="1400" dirty="0" smtClean="0">
                <a:solidFill>
                  <a:schemeClr val="tx1"/>
                </a:solidFill>
              </a:rPr>
              <a:t> 대비 재해율 높은 업체 등</a:t>
            </a:r>
            <a:r>
              <a:rPr lang="en-US" altLang="ko-KR" sz="1400" dirty="0" smtClean="0">
                <a:solidFill>
                  <a:schemeClr val="tx1"/>
                </a:solidFill>
              </a:rPr>
              <a:t/>
            </a:r>
            <a:br>
              <a:rPr lang="en-US" altLang="ko-KR" sz="1400" dirty="0" smtClean="0">
                <a:solidFill>
                  <a:schemeClr val="tx1"/>
                </a:solidFill>
              </a:rPr>
            </a:br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기준은 향후 설정 예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92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FBDC6A-4CB6-4A93-A9F6-323E60AAB904}"/>
              </a:ext>
            </a:extLst>
          </p:cNvPr>
          <p:cNvSpPr/>
          <p:nvPr/>
        </p:nvSpPr>
        <p:spPr>
          <a:xfrm>
            <a:off x="381600" y="895631"/>
            <a:ext cx="4183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상단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메뉴창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관리자 모드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2439"/>
              </p:ext>
            </p:extLst>
          </p:nvPr>
        </p:nvGraphicFramePr>
        <p:xfrm>
          <a:off x="901553" y="1537229"/>
          <a:ext cx="9586760" cy="4550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877">
                  <a:extLst>
                    <a:ext uri="{9D8B030D-6E8A-4147-A177-3AD203B41FA5}">
                      <a16:colId xmlns:a16="http://schemas.microsoft.com/office/drawing/2014/main" val="1700830983"/>
                    </a:ext>
                  </a:extLst>
                </a:gridCol>
                <a:gridCol w="2325827">
                  <a:extLst>
                    <a:ext uri="{9D8B030D-6E8A-4147-A177-3AD203B41FA5}">
                      <a16:colId xmlns:a16="http://schemas.microsoft.com/office/drawing/2014/main" val="4099780224"/>
                    </a:ext>
                  </a:extLst>
                </a:gridCol>
                <a:gridCol w="2264461">
                  <a:extLst>
                    <a:ext uri="{9D8B030D-6E8A-4147-A177-3AD203B41FA5}">
                      <a16:colId xmlns:a16="http://schemas.microsoft.com/office/drawing/2014/main" val="1788357239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850226787"/>
                    </a:ext>
                  </a:extLst>
                </a:gridCol>
                <a:gridCol w="2426891">
                  <a:extLst>
                    <a:ext uri="{9D8B030D-6E8A-4147-A177-3AD203B41FA5}">
                      <a16:colId xmlns:a16="http://schemas.microsoft.com/office/drawing/2014/main" val="340088235"/>
                    </a:ext>
                  </a:extLst>
                </a:gridCol>
              </a:tblGrid>
              <a:tr h="6329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소개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사업장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선박</a:t>
                      </a:r>
                      <a:r>
                        <a:rPr lang="en-US" altLang="ko-KR" sz="1600" dirty="0" smtClean="0"/>
                        <a:t>)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smtClean="0"/>
                        <a:t>안전보건</a:t>
                      </a:r>
                      <a:endParaRPr lang="en-US" altLang="ko-KR" sz="1600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 smtClean="0"/>
                        <a:t>-</a:t>
                      </a:r>
                      <a:r>
                        <a:rPr lang="ko-KR" altLang="en-US" sz="1400" b="1" dirty="0" err="1" smtClean="0"/>
                        <a:t>협력업체용</a:t>
                      </a:r>
                      <a:endParaRPr lang="en-US" altLang="ko-KR" sz="14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협력업체 </a:t>
                      </a:r>
                      <a:r>
                        <a:rPr lang="ko-KR" altLang="en-US" sz="1600" dirty="0" smtClean="0"/>
                        <a:t>안전보건</a:t>
                      </a:r>
                      <a:endParaRPr lang="en-US" altLang="ko-KR" sz="1600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 smtClean="0"/>
                        <a:t>-</a:t>
                      </a:r>
                      <a:r>
                        <a:rPr lang="ko-KR" altLang="en-US" sz="1400" b="1" dirty="0" err="1" smtClean="0"/>
                        <a:t>계약부서용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공지사항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관리자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338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안전보건경영방침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사업장</a:t>
                      </a:r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선박</a:t>
                      </a:r>
                      <a:r>
                        <a:rPr lang="en-US" altLang="ko-KR" sz="1100" dirty="0" smtClean="0"/>
                        <a:t>) </a:t>
                      </a:r>
                      <a:r>
                        <a:rPr lang="ko-KR" altLang="en-US" sz="1100" dirty="0" err="1" smtClean="0"/>
                        <a:t>출입절차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협력업체 안전보건절차</a:t>
                      </a:r>
                      <a:endParaRPr lang="en-US" altLang="ko-K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공지사항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가입신청 </a:t>
                      </a:r>
                      <a:r>
                        <a:rPr lang="en-US" altLang="ko-KR" sz="1100" dirty="0" smtClean="0"/>
                        <a:t>LIST</a:t>
                      </a:r>
                      <a:r>
                        <a:rPr lang="en-US" altLang="ko-KR" sz="1100" baseline="0" dirty="0" smtClean="0"/>
                        <a:t> &amp; </a:t>
                      </a:r>
                      <a:r>
                        <a:rPr lang="ko-KR" altLang="en-US" sz="1100" dirty="0" smtClean="0"/>
                        <a:t>업체 관리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56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안전보건 목표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사업장</a:t>
                      </a:r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선박</a:t>
                      </a:r>
                      <a:r>
                        <a:rPr lang="en-US" altLang="ko-KR" sz="1100" dirty="0" smtClean="0"/>
                        <a:t>) </a:t>
                      </a:r>
                      <a:r>
                        <a:rPr lang="ko-KR" altLang="en-US" sz="1100" dirty="0" err="1" smtClean="0"/>
                        <a:t>출입신청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 smtClean="0"/>
                        <a:t>업체평가</a:t>
                      </a:r>
                      <a:r>
                        <a:rPr lang="ko-KR" altLang="en-US" sz="1100" dirty="0" smtClean="0"/>
                        <a:t> </a:t>
                      </a:r>
                      <a:r>
                        <a:rPr lang="ko-KR" altLang="en-US" sz="1100" dirty="0" smtClean="0"/>
                        <a:t>및 </a:t>
                      </a:r>
                      <a:r>
                        <a:rPr lang="ko-KR" altLang="en-US" sz="1100" dirty="0" err="1" smtClean="0"/>
                        <a:t>반기평가</a:t>
                      </a:r>
                      <a:endParaRPr lang="en-US" altLang="ko-K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양식함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aseline="0" dirty="0" smtClean="0"/>
                        <a:t>정보수집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946701"/>
                  </a:ext>
                </a:extLst>
              </a:tr>
              <a:tr h="55739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안전보건 인증</a:t>
                      </a:r>
                      <a:endParaRPr lang="en-US" altLang="ko-KR" sz="1100" dirty="0" smtClean="0"/>
                    </a:p>
                    <a:p>
                      <a:pPr latinLnBrk="1"/>
                      <a:r>
                        <a:rPr lang="en-US" altLang="ko-KR" sz="1100" dirty="0" smtClean="0"/>
                        <a:t>(ISO</a:t>
                      </a:r>
                      <a:r>
                        <a:rPr lang="en-US" altLang="ko-KR" sz="1100" baseline="0" dirty="0" smtClean="0"/>
                        <a:t> 45001)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aseline="0" dirty="0" err="1" smtClean="0"/>
                        <a:t>반기평가</a:t>
                      </a:r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/>
                        <a:t>사업장 </a:t>
                      </a:r>
                      <a:r>
                        <a:rPr lang="ko-KR" altLang="en-US" sz="1100" dirty="0" err="1" smtClean="0"/>
                        <a:t>출입신청</a:t>
                      </a:r>
                      <a:r>
                        <a:rPr lang="ko-KR" altLang="en-US" sz="1100" dirty="0" smtClean="0"/>
                        <a:t> </a:t>
                      </a:r>
                      <a:r>
                        <a:rPr lang="ko-KR" altLang="en-US" sz="1100" baseline="0" dirty="0" smtClean="0"/>
                        <a:t>허가</a:t>
                      </a:r>
                      <a:endParaRPr lang="ko-KR" altLang="en-US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735057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/>
                        <a:t>근로자 의견</a:t>
                      </a:r>
                      <a:r>
                        <a:rPr lang="ko-KR" altLang="en-US" sz="1100" baseline="0" dirty="0" smtClean="0"/>
                        <a:t>조회</a:t>
                      </a:r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협력업체 안전보건평가 검토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311082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협력업체 안전보건평가 </a:t>
                      </a:r>
                      <a:r>
                        <a:rPr lang="ko-KR" altLang="en-US" sz="1100" dirty="0" err="1" smtClean="0"/>
                        <a:t>항목관리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901461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안전수칙 등록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536709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/>
                        <a:t>협력업체 산업재해</a:t>
                      </a:r>
                      <a:r>
                        <a:rPr lang="en-US" altLang="ko-KR" sz="1100" baseline="0" dirty="0" smtClean="0"/>
                        <a:t> </a:t>
                      </a:r>
                      <a:r>
                        <a:rPr lang="ko-KR" altLang="en-US" sz="1100" dirty="0" smtClean="0"/>
                        <a:t>발생 </a:t>
                      </a:r>
                      <a:r>
                        <a:rPr lang="en-US" altLang="ko-KR" sz="1100" dirty="0" smtClean="0"/>
                        <a:t>LIST</a:t>
                      </a:r>
                      <a:endParaRPr lang="ko-KR" altLang="en-US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365476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/>
                        <a:t>안전보건실적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559727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 smtClean="0"/>
                        <a:t>보건</a:t>
                      </a:r>
                      <a:r>
                        <a:rPr lang="ko-KR" altLang="en-US" sz="1100" baseline="0" dirty="0" err="1" smtClean="0"/>
                        <a:t>파트</a:t>
                      </a:r>
                      <a:endParaRPr lang="ko-KR" altLang="en-US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499756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포털 구성</a:t>
            </a:r>
            <a:r>
              <a:rPr lang="en-US" altLang="ko-KR" sz="2800" b="1" dirty="0" smtClean="0"/>
              <a:t>(</a:t>
            </a:r>
            <a:r>
              <a:rPr lang="ko-KR" altLang="en-US" sz="2800" b="1" dirty="0" smtClean="0"/>
              <a:t>안</a:t>
            </a:r>
            <a:r>
              <a:rPr lang="en-US" altLang="ko-KR" sz="2800" b="1" dirty="0" smtClean="0"/>
              <a:t>) 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  <p:cxnSp>
        <p:nvCxnSpPr>
          <p:cNvPr id="11" name="직선 화살표 연결선 10"/>
          <p:cNvCxnSpPr/>
          <p:nvPr/>
        </p:nvCxnSpPr>
        <p:spPr>
          <a:xfrm flipH="1" flipV="1">
            <a:off x="7248277" y="5397932"/>
            <a:ext cx="699247" cy="10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48277" y="5408690"/>
            <a:ext cx="1083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하위목록</a:t>
            </a:r>
            <a:endParaRPr lang="ko-KR" altLang="en-US" sz="1200" dirty="0"/>
          </a:p>
        </p:txBody>
      </p:sp>
      <p:pic>
        <p:nvPicPr>
          <p:cNvPr id="13" name="Picture 8" descr="세로형 리스트 메뉴 UI (수정본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075" y="4659493"/>
            <a:ext cx="3207526" cy="206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00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FBDC6A-4CB6-4A93-A9F6-323E60AAB904}"/>
              </a:ext>
            </a:extLst>
          </p:cNvPr>
          <p:cNvSpPr/>
          <p:nvPr/>
        </p:nvSpPr>
        <p:spPr>
          <a:xfrm>
            <a:off x="387605" y="916329"/>
            <a:ext cx="4838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상단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메뉴창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협력업체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계약부서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모드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FBDC6A-4CB6-4A93-A9F6-323E60AAB904}"/>
              </a:ext>
            </a:extLst>
          </p:cNvPr>
          <p:cNvSpPr/>
          <p:nvPr/>
        </p:nvSpPr>
        <p:spPr>
          <a:xfrm>
            <a:off x="387605" y="4128381"/>
            <a:ext cx="4183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초기화면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075506"/>
              </p:ext>
            </p:extLst>
          </p:nvPr>
        </p:nvGraphicFramePr>
        <p:xfrm>
          <a:off x="900094" y="4614572"/>
          <a:ext cx="1508877" cy="19320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877">
                  <a:extLst>
                    <a:ext uri="{9D8B030D-6E8A-4147-A177-3AD203B41FA5}">
                      <a16:colId xmlns:a16="http://schemas.microsoft.com/office/drawing/2014/main" val="1700830983"/>
                    </a:ext>
                  </a:extLst>
                </a:gridCol>
              </a:tblGrid>
              <a:tr h="6329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소개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338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안전보건경영방침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56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안전보건 목표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946701"/>
                  </a:ext>
                </a:extLst>
              </a:tr>
              <a:tr h="55739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안전보건 인증</a:t>
                      </a:r>
                      <a:endParaRPr lang="en-US" altLang="ko-KR" sz="1100" dirty="0" smtClean="0"/>
                    </a:p>
                    <a:p>
                      <a:pPr latinLnBrk="1"/>
                      <a:r>
                        <a:rPr lang="en-US" altLang="ko-KR" sz="1100" dirty="0" smtClean="0"/>
                        <a:t>(ISO</a:t>
                      </a:r>
                      <a:r>
                        <a:rPr lang="en-US" altLang="ko-KR" sz="1100" baseline="0" dirty="0" smtClean="0"/>
                        <a:t> 45001)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735057"/>
                  </a:ext>
                </a:extLst>
              </a:tr>
            </a:tbl>
          </a:graphicData>
        </a:graphic>
      </p:graphicFrame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포털 구성</a:t>
            </a:r>
            <a:r>
              <a:rPr lang="en-US" altLang="ko-KR" sz="2800" b="1" dirty="0" smtClean="0"/>
              <a:t>(</a:t>
            </a:r>
            <a:r>
              <a:rPr lang="ko-KR" altLang="en-US" sz="2800" b="1" dirty="0" smtClean="0"/>
              <a:t>안</a:t>
            </a:r>
            <a:r>
              <a:rPr lang="en-US" altLang="ko-KR" sz="2800" b="1" dirty="0" smtClean="0"/>
              <a:t>) 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458614"/>
              </p:ext>
            </p:extLst>
          </p:nvPr>
        </p:nvGraphicFramePr>
        <p:xfrm>
          <a:off x="900094" y="1519379"/>
          <a:ext cx="7159869" cy="4550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877">
                  <a:extLst>
                    <a:ext uri="{9D8B030D-6E8A-4147-A177-3AD203B41FA5}">
                      <a16:colId xmlns:a16="http://schemas.microsoft.com/office/drawing/2014/main" val="1700830983"/>
                    </a:ext>
                  </a:extLst>
                </a:gridCol>
                <a:gridCol w="2325827">
                  <a:extLst>
                    <a:ext uri="{9D8B030D-6E8A-4147-A177-3AD203B41FA5}">
                      <a16:colId xmlns:a16="http://schemas.microsoft.com/office/drawing/2014/main" val="4099780224"/>
                    </a:ext>
                  </a:extLst>
                </a:gridCol>
                <a:gridCol w="2264461">
                  <a:extLst>
                    <a:ext uri="{9D8B030D-6E8A-4147-A177-3AD203B41FA5}">
                      <a16:colId xmlns:a16="http://schemas.microsoft.com/office/drawing/2014/main" val="1788357239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850226787"/>
                    </a:ext>
                  </a:extLst>
                </a:gridCol>
              </a:tblGrid>
              <a:tr h="6253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소개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사업장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선박</a:t>
                      </a:r>
                      <a:r>
                        <a:rPr lang="en-US" altLang="ko-KR" sz="1600" dirty="0" smtClean="0"/>
                        <a:t>)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smtClean="0"/>
                        <a:t>안전보건</a:t>
                      </a:r>
                      <a:endParaRPr lang="en-US" altLang="ko-KR" sz="1600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 smtClean="0"/>
                        <a:t>-</a:t>
                      </a:r>
                      <a:r>
                        <a:rPr lang="ko-KR" altLang="en-US" sz="1400" b="1" dirty="0" err="1" smtClean="0"/>
                        <a:t>협력업체용</a:t>
                      </a:r>
                      <a:endParaRPr lang="en-US" altLang="ko-KR" sz="14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협력업체 </a:t>
                      </a:r>
                      <a:r>
                        <a:rPr lang="ko-KR" altLang="en-US" sz="1600" dirty="0" smtClean="0"/>
                        <a:t>안전보건</a:t>
                      </a:r>
                      <a:endParaRPr lang="en-US" altLang="ko-KR" sz="1600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b="1" dirty="0" smtClean="0"/>
                        <a:t>-</a:t>
                      </a:r>
                      <a:r>
                        <a:rPr lang="ko-KR" altLang="en-US" sz="1400" b="1" dirty="0" err="1" smtClean="0"/>
                        <a:t>계약부서용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공지사항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338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안전보건경영방침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사업장</a:t>
                      </a:r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선박</a:t>
                      </a:r>
                      <a:r>
                        <a:rPr lang="en-US" altLang="ko-KR" sz="1100" dirty="0" smtClean="0"/>
                        <a:t>) </a:t>
                      </a:r>
                      <a:r>
                        <a:rPr lang="ko-KR" altLang="en-US" sz="1100" dirty="0" err="1" smtClean="0"/>
                        <a:t>출입절차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협력업체 안전보건절차</a:t>
                      </a:r>
                      <a:endParaRPr lang="en-US" altLang="ko-K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공지사항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56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안전보건 목표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사업장</a:t>
                      </a:r>
                      <a:r>
                        <a:rPr lang="en-US" altLang="ko-KR" sz="1100" dirty="0" smtClean="0"/>
                        <a:t>(</a:t>
                      </a:r>
                      <a:r>
                        <a:rPr lang="ko-KR" altLang="en-US" sz="1100" dirty="0" smtClean="0"/>
                        <a:t>선박</a:t>
                      </a:r>
                      <a:r>
                        <a:rPr lang="en-US" altLang="ko-KR" sz="1100" dirty="0" smtClean="0"/>
                        <a:t>) </a:t>
                      </a:r>
                      <a:r>
                        <a:rPr lang="ko-KR" altLang="en-US" sz="1100" dirty="0" err="1" smtClean="0"/>
                        <a:t>출입신청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 smtClean="0"/>
                        <a:t>업체평가</a:t>
                      </a:r>
                      <a:r>
                        <a:rPr lang="ko-KR" altLang="en-US" sz="1100" dirty="0" smtClean="0"/>
                        <a:t> </a:t>
                      </a:r>
                      <a:r>
                        <a:rPr lang="ko-KR" altLang="en-US" sz="1100" dirty="0" smtClean="0"/>
                        <a:t>및 </a:t>
                      </a:r>
                      <a:r>
                        <a:rPr lang="ko-KR" altLang="en-US" sz="1100" dirty="0" err="1" smtClean="0"/>
                        <a:t>반기평가</a:t>
                      </a:r>
                      <a:endParaRPr lang="en-US" altLang="ko-K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양식함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946701"/>
                  </a:ext>
                </a:extLst>
              </a:tr>
              <a:tr h="55739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안전보건 인증</a:t>
                      </a:r>
                      <a:endParaRPr lang="en-US" altLang="ko-KR" sz="1100" dirty="0" smtClean="0"/>
                    </a:p>
                    <a:p>
                      <a:pPr latinLnBrk="1"/>
                      <a:r>
                        <a:rPr lang="en-US" altLang="ko-KR" sz="1100" dirty="0" smtClean="0"/>
                        <a:t>(ISO</a:t>
                      </a:r>
                      <a:r>
                        <a:rPr lang="en-US" altLang="ko-KR" sz="1100" baseline="0" dirty="0" smtClean="0"/>
                        <a:t> 45001)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aseline="0" dirty="0" err="1" smtClean="0"/>
                        <a:t>반기평가</a:t>
                      </a:r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735057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/>
                        <a:t>근로자 의견</a:t>
                      </a:r>
                      <a:r>
                        <a:rPr lang="ko-KR" altLang="en-US" sz="1100" baseline="0" dirty="0" smtClean="0"/>
                        <a:t>조회</a:t>
                      </a:r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311082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901461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536709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365476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559727"/>
                  </a:ext>
                </a:extLst>
              </a:tr>
              <a:tr h="412436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aseline="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499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19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2C70AD9-62AF-4ABF-A0C3-1F156119E65D}"/>
              </a:ext>
            </a:extLst>
          </p:cNvPr>
          <p:cNvGrpSpPr/>
          <p:nvPr/>
        </p:nvGrpSpPr>
        <p:grpSpPr>
          <a:xfrm>
            <a:off x="369201" y="1859031"/>
            <a:ext cx="4320000" cy="4076060"/>
            <a:chOff x="430706" y="1616711"/>
            <a:chExt cx="4677428" cy="438211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EFA7534-E5E0-4E51-8C1E-09A009A92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706" y="1616711"/>
              <a:ext cx="4677428" cy="4382112"/>
            </a:xfrm>
            <a:prstGeom prst="rect">
              <a:avLst/>
            </a:prstGeom>
          </p:spPr>
        </p:pic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1BB22C79-8D4B-4415-B040-C96004926C59}"/>
                </a:ext>
              </a:extLst>
            </p:cNvPr>
            <p:cNvSpPr/>
            <p:nvPr/>
          </p:nvSpPr>
          <p:spPr>
            <a:xfrm>
              <a:off x="889233" y="4748169"/>
              <a:ext cx="3833769" cy="519550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로그인</a:t>
              </a:r>
            </a:p>
          </p:txBody>
        </p:sp>
      </p:grpSp>
      <p:sp>
        <p:nvSpPr>
          <p:cNvPr id="7" name="타원 6">
            <a:extLst>
              <a:ext uri="{FF2B5EF4-FFF2-40B4-BE49-F238E27FC236}">
                <a16:creationId xmlns:a16="http://schemas.microsoft.com/office/drawing/2014/main" id="{189FF6AC-A983-433F-96C7-7511082259DE}"/>
              </a:ext>
            </a:extLst>
          </p:cNvPr>
          <p:cNvSpPr/>
          <p:nvPr/>
        </p:nvSpPr>
        <p:spPr>
          <a:xfrm>
            <a:off x="3155449" y="5522328"/>
            <a:ext cx="914400" cy="3607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EA04BF7-E1B6-4F1E-A537-991C4F06EEF4}"/>
              </a:ext>
            </a:extLst>
          </p:cNvPr>
          <p:cNvCxnSpPr>
            <a:cxnSpLocks/>
            <a:stCxn id="7" idx="7"/>
          </p:cNvCxnSpPr>
          <p:nvPr/>
        </p:nvCxnSpPr>
        <p:spPr>
          <a:xfrm flipV="1">
            <a:off x="3935938" y="5563847"/>
            <a:ext cx="1632758" cy="11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0FBA88-19CA-4495-BA41-6473EBDAEE89}"/>
              </a:ext>
            </a:extLst>
          </p:cNvPr>
          <p:cNvSpPr/>
          <p:nvPr/>
        </p:nvSpPr>
        <p:spPr>
          <a:xfrm>
            <a:off x="1934380" y="2737057"/>
            <a:ext cx="2628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2E5FC3-4DCA-497D-B8A0-88DCB3F3BEA7}"/>
              </a:ext>
            </a:extLst>
          </p:cNvPr>
          <p:cNvSpPr/>
          <p:nvPr/>
        </p:nvSpPr>
        <p:spPr>
          <a:xfrm>
            <a:off x="780931" y="4231299"/>
            <a:ext cx="3599175" cy="293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F54B6F-9187-4C80-89CD-4100BB56D622}"/>
              </a:ext>
            </a:extLst>
          </p:cNvPr>
          <p:cNvSpPr/>
          <p:nvPr/>
        </p:nvSpPr>
        <p:spPr>
          <a:xfrm>
            <a:off x="9678640" y="1780206"/>
            <a:ext cx="1117993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A758F5-9F1F-4FC9-ACDC-D3699927E11B}"/>
              </a:ext>
            </a:extLst>
          </p:cNvPr>
          <p:cNvSpPr/>
          <p:nvPr/>
        </p:nvSpPr>
        <p:spPr>
          <a:xfrm>
            <a:off x="8535481" y="3875356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2166AEE-840D-4C91-988B-D9D14A8B9C2F}"/>
              </a:ext>
            </a:extLst>
          </p:cNvPr>
          <p:cNvSpPr/>
          <p:nvPr/>
        </p:nvSpPr>
        <p:spPr>
          <a:xfrm>
            <a:off x="9345018" y="3875355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B64144-9E6D-4190-BB9B-037C515513EA}"/>
              </a:ext>
            </a:extLst>
          </p:cNvPr>
          <p:cNvSpPr/>
          <p:nvPr/>
        </p:nvSpPr>
        <p:spPr>
          <a:xfrm>
            <a:off x="10124141" y="3873881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A69386-0070-42CE-90A6-1C26DE8C9DF0}"/>
              </a:ext>
            </a:extLst>
          </p:cNvPr>
          <p:cNvSpPr/>
          <p:nvPr/>
        </p:nvSpPr>
        <p:spPr>
          <a:xfrm>
            <a:off x="8513999" y="4358950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240" y="1564887"/>
            <a:ext cx="2752555" cy="99462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380" y="911225"/>
            <a:ext cx="5139526" cy="57510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52088" y="1742958"/>
            <a:ext cx="930624" cy="200055"/>
          </a:xfrm>
          <a:prstGeom prst="rect">
            <a:avLst/>
          </a:prstGeom>
          <a:solidFill>
            <a:srgbClr val="F3F7FA"/>
          </a:solidFill>
        </p:spPr>
        <p:txBody>
          <a:bodyPr wrap="square" rtlCol="0">
            <a:spAutoFit/>
          </a:bodyPr>
          <a:lstStyle/>
          <a:p>
            <a:r>
              <a:rPr lang="ko-KR" altLang="en-US" sz="7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</a:t>
            </a:r>
            <a:r>
              <a:rPr lang="ko-KR" altLang="en-US" sz="7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팬오션</a:t>
            </a:r>
            <a:endParaRPr lang="ko-KR" altLang="en-US" sz="7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30493" y="3446757"/>
            <a:ext cx="434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1759" y="4937553"/>
            <a:ext cx="434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85129" y="5935091"/>
            <a:ext cx="434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가입 및 로그인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(1/4)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875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 설명선 4"/>
          <p:cNvSpPr/>
          <p:nvPr/>
        </p:nvSpPr>
        <p:spPr>
          <a:xfrm>
            <a:off x="7614680" y="996696"/>
            <a:ext cx="3595864" cy="539496"/>
          </a:xfrm>
          <a:prstGeom prst="wedgeRectCallout">
            <a:avLst>
              <a:gd name="adj1" fmla="val -31005"/>
              <a:gd name="adj2" fmla="val 7944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0FBA88-19CA-4495-BA41-6473EBDAEE89}"/>
              </a:ext>
            </a:extLst>
          </p:cNvPr>
          <p:cNvSpPr/>
          <p:nvPr/>
        </p:nvSpPr>
        <p:spPr>
          <a:xfrm>
            <a:off x="1934380" y="2737057"/>
            <a:ext cx="26280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2E5FC3-4DCA-497D-B8A0-88DCB3F3BEA7}"/>
              </a:ext>
            </a:extLst>
          </p:cNvPr>
          <p:cNvSpPr/>
          <p:nvPr/>
        </p:nvSpPr>
        <p:spPr>
          <a:xfrm>
            <a:off x="780931" y="4231299"/>
            <a:ext cx="3599175" cy="293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F54B6F-9187-4C80-89CD-4100BB56D622}"/>
              </a:ext>
            </a:extLst>
          </p:cNvPr>
          <p:cNvSpPr/>
          <p:nvPr/>
        </p:nvSpPr>
        <p:spPr>
          <a:xfrm>
            <a:off x="9565144" y="1822079"/>
            <a:ext cx="1117993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A758F5-9F1F-4FC9-ACDC-D3699927E11B}"/>
              </a:ext>
            </a:extLst>
          </p:cNvPr>
          <p:cNvSpPr/>
          <p:nvPr/>
        </p:nvSpPr>
        <p:spPr>
          <a:xfrm>
            <a:off x="8535481" y="3875356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2166AEE-840D-4C91-988B-D9D14A8B9C2F}"/>
              </a:ext>
            </a:extLst>
          </p:cNvPr>
          <p:cNvSpPr/>
          <p:nvPr/>
        </p:nvSpPr>
        <p:spPr>
          <a:xfrm>
            <a:off x="9345018" y="3875355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B64144-9E6D-4190-BB9B-037C515513EA}"/>
              </a:ext>
            </a:extLst>
          </p:cNvPr>
          <p:cNvSpPr/>
          <p:nvPr/>
        </p:nvSpPr>
        <p:spPr>
          <a:xfrm>
            <a:off x="10124141" y="3873881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A69386-0070-42CE-90A6-1C26DE8C9DF0}"/>
              </a:ext>
            </a:extLst>
          </p:cNvPr>
          <p:cNvSpPr/>
          <p:nvPr/>
        </p:nvSpPr>
        <p:spPr>
          <a:xfrm>
            <a:off x="8513999" y="4358950"/>
            <a:ext cx="616910" cy="1576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/>
          <p:cNvGrpSpPr/>
          <p:nvPr/>
        </p:nvGrpSpPr>
        <p:grpSpPr>
          <a:xfrm>
            <a:off x="1275241" y="927510"/>
            <a:ext cx="6267008" cy="5665313"/>
            <a:chOff x="1275241" y="927510"/>
            <a:chExt cx="6267008" cy="5665313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5241" y="927510"/>
              <a:ext cx="6267008" cy="5665313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526329" y="5151143"/>
              <a:ext cx="1003511" cy="215444"/>
            </a:xfrm>
            <a:prstGeom prst="rect">
              <a:avLst/>
            </a:prstGeom>
            <a:solidFill>
              <a:srgbClr val="EDEFFF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 smtClean="0">
                  <a:solidFill>
                    <a:srgbClr val="1F265B"/>
                  </a:solidFill>
                </a:rPr>
                <a:t>팬오션계약팀</a:t>
              </a:r>
              <a:r>
                <a:rPr lang="ko-KR" altLang="en-US" sz="800" b="1" dirty="0" smtClean="0">
                  <a:solidFill>
                    <a:srgbClr val="1F265B"/>
                  </a:solidFill>
                </a:rPr>
                <a:t> </a:t>
              </a:r>
              <a:r>
                <a:rPr lang="en-US" altLang="ko-KR" sz="800" b="1" dirty="0">
                  <a:solidFill>
                    <a:srgbClr val="C00000"/>
                  </a:solidFill>
                </a:rPr>
                <a:t>*</a:t>
              </a:r>
              <a:endParaRPr lang="ko-KR" altLang="en-US" sz="8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620243" y="5916930"/>
            <a:ext cx="434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85636" y="4841694"/>
            <a:ext cx="2977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업종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계약팀</a:t>
            </a:r>
            <a:r>
              <a:rPr lang="ko-KR" altLang="en-US" sz="1400" dirty="0" smtClean="0"/>
              <a:t> 모두 복수 선택 가능</a:t>
            </a:r>
            <a:endParaRPr lang="ko-KR" altLang="en-US" sz="1400" dirty="0"/>
          </a:p>
        </p:txBody>
      </p:sp>
      <p:pic>
        <p:nvPicPr>
          <p:cNvPr id="2052" name="Picture 4" descr="https://images.wrks.ai/dalle/gcq1AxaPxViRdXIjuUgdAZ8hufvwkfYxsUpHVgc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42"/>
          <a:stretch/>
        </p:blipFill>
        <p:spPr bwMode="auto">
          <a:xfrm>
            <a:off x="9814477" y="4516601"/>
            <a:ext cx="2145547" cy="147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가입 및 로그인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(2/4)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77159" y="1025843"/>
            <a:ext cx="3542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개인정보 </a:t>
            </a:r>
            <a:r>
              <a:rPr lang="ko-KR" altLang="en-US" sz="1400" dirty="0" err="1"/>
              <a:t>수집이용</a:t>
            </a:r>
            <a:r>
              <a:rPr lang="ko-KR" altLang="en-US" sz="1400" dirty="0"/>
              <a:t> 동의서</a:t>
            </a:r>
            <a:r>
              <a:rPr lang="en-US" altLang="ko-KR" sz="1400" dirty="0"/>
              <a:t>, </a:t>
            </a:r>
            <a:r>
              <a:rPr lang="ko-KR" altLang="en-US" sz="1400" dirty="0" err="1" smtClean="0"/>
              <a:t>계약팀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목록</a:t>
            </a:r>
            <a:r>
              <a:rPr lang="en-US" altLang="ko-KR" sz="1400" dirty="0" smtClean="0"/>
              <a:t>, </a:t>
            </a:r>
          </a:p>
          <a:p>
            <a:r>
              <a:rPr lang="ko-KR" altLang="en-US" sz="1400" dirty="0" smtClean="0"/>
              <a:t>업종 목록은 </a:t>
            </a:r>
            <a:r>
              <a:rPr lang="ko-KR" altLang="en-US" sz="1400" dirty="0"/>
              <a:t>내부 직원이 수정가능하도록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4226642" y="3108301"/>
            <a:ext cx="3388038" cy="1546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새로운 드롭다운 이미지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742" y="1979730"/>
            <a:ext cx="2106869" cy="412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직선 화살표 연결선 34"/>
          <p:cNvCxnSpPr/>
          <p:nvPr/>
        </p:nvCxnSpPr>
        <p:spPr>
          <a:xfrm flipV="1">
            <a:off x="3921842" y="5156004"/>
            <a:ext cx="5766769" cy="100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45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123004D0-D63C-4A28-8D67-81004CA75585}"/>
              </a:ext>
            </a:extLst>
          </p:cNvPr>
          <p:cNvSpPr/>
          <p:nvPr/>
        </p:nvSpPr>
        <p:spPr>
          <a:xfrm>
            <a:off x="115757" y="989677"/>
            <a:ext cx="4220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안전경영팀이 받는 메일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가입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승인 요청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알림창</a:t>
            </a:r>
            <a:endParaRPr lang="ko-KR" altLang="en-US" sz="1600" dirty="0"/>
          </a:p>
        </p:txBody>
      </p:sp>
      <p:grpSp>
        <p:nvGrpSpPr>
          <p:cNvPr id="7" name="그룹 6"/>
          <p:cNvGrpSpPr/>
          <p:nvPr/>
        </p:nvGrpSpPr>
        <p:grpSpPr>
          <a:xfrm>
            <a:off x="458276" y="2187152"/>
            <a:ext cx="7172325" cy="3314700"/>
            <a:chOff x="2624137" y="2701766"/>
            <a:chExt cx="7172325" cy="33147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4137" y="2701766"/>
              <a:ext cx="7172325" cy="33147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493415" y="3455371"/>
              <a:ext cx="315503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[</a:t>
              </a:r>
              <a:r>
                <a:rPr lang="ko-KR" altLang="en-US" sz="1200" dirty="0" smtClean="0"/>
                <a:t>승인요청</a:t>
              </a:r>
              <a:r>
                <a:rPr lang="en-US" altLang="ko-KR" sz="1200" dirty="0" smtClean="0"/>
                <a:t>] </a:t>
              </a:r>
              <a:r>
                <a:rPr lang="ko-KR" altLang="en-US" sz="1200" dirty="0" smtClean="0"/>
                <a:t>안전보건포털 가입 승인 요청</a:t>
              </a:r>
              <a:endParaRPr lang="ko-KR" altLang="en-US" sz="12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24149" y="4226691"/>
              <a:ext cx="6922738" cy="13849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smtClean="0"/>
                <a:t>안전보건포털 가입신청이 접수되었습니다</a:t>
              </a:r>
              <a:r>
                <a:rPr lang="en-US" altLang="ko-KR" sz="1400" dirty="0" smtClean="0"/>
                <a:t>.</a:t>
              </a:r>
            </a:p>
            <a:p>
              <a:r>
                <a:rPr lang="ko-KR" altLang="en-US" sz="1400" dirty="0" smtClean="0"/>
                <a:t>포털 로그인 후 가입신청서 검토 및 </a:t>
              </a:r>
              <a:r>
                <a:rPr lang="ko-KR" altLang="en-US" sz="1400" dirty="0" err="1" smtClean="0"/>
                <a:t>승인바랍니다</a:t>
              </a:r>
              <a:r>
                <a:rPr lang="en-US" altLang="ko-KR" sz="1400" dirty="0" smtClean="0"/>
                <a:t>.</a:t>
              </a:r>
            </a:p>
            <a:p>
              <a:endParaRPr lang="en-US" altLang="ko-KR" sz="1400" dirty="0"/>
            </a:p>
            <a:p>
              <a:r>
                <a:rPr lang="ko-KR" altLang="en-US" sz="1400" u="sng" dirty="0" smtClean="0">
                  <a:solidFill>
                    <a:schemeClr val="accent1">
                      <a:lumMod val="75000"/>
                    </a:schemeClr>
                  </a:solidFill>
                </a:rPr>
                <a:t>포털 </a:t>
              </a:r>
              <a:r>
                <a:rPr lang="ko-KR" altLang="en-US" sz="1400" u="sng" dirty="0" err="1" smtClean="0">
                  <a:solidFill>
                    <a:schemeClr val="accent1">
                      <a:lumMod val="75000"/>
                    </a:schemeClr>
                  </a:solidFill>
                </a:rPr>
                <a:t>바로가기</a:t>
              </a:r>
              <a:endParaRPr lang="en-US" altLang="ko-KR" sz="1400" u="sng" dirty="0" smtClean="0">
                <a:solidFill>
                  <a:schemeClr val="accent1">
                    <a:lumMod val="75000"/>
                  </a:schemeClr>
                </a:solidFill>
              </a:endParaRPr>
            </a:p>
            <a:p>
              <a:endParaRPr lang="en-US" altLang="ko-KR" sz="1400" u="sng" dirty="0" smtClean="0">
                <a:solidFill>
                  <a:schemeClr val="accent1">
                    <a:lumMod val="75000"/>
                  </a:schemeClr>
                </a:solidFill>
              </a:endParaRPr>
            </a:p>
            <a:p>
              <a:endParaRPr lang="en-US" altLang="ko-KR" sz="1400" u="sng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096000" y="2974712"/>
            <a:ext cx="5501664" cy="13388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 smtClean="0"/>
              <a:t>2</a:t>
            </a:r>
            <a:r>
              <a:rPr lang="ko-KR" altLang="en-US" dirty="0" smtClean="0"/>
              <a:t>일안에 승인 안될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자동 </a:t>
            </a:r>
            <a:r>
              <a:rPr lang="en-US" altLang="ko-KR" dirty="0" smtClean="0"/>
              <a:t>remind </a:t>
            </a:r>
            <a:r>
              <a:rPr lang="ko-KR" altLang="en-US" dirty="0" smtClean="0"/>
              <a:t>메일 보내기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 smtClean="0"/>
              <a:t>포털 </a:t>
            </a:r>
            <a:r>
              <a:rPr lang="ko-KR" altLang="en-US" dirty="0" err="1" smtClean="0"/>
              <a:t>바로가기</a:t>
            </a:r>
            <a:r>
              <a:rPr lang="ko-KR" altLang="en-US" dirty="0" smtClean="0"/>
              <a:t> 기능 </a:t>
            </a:r>
            <a:r>
              <a:rPr lang="ko-KR" altLang="en-US" dirty="0" smtClean="0"/>
              <a:t>삽입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 smtClean="0"/>
              <a:t>포털 화면은 </a:t>
            </a:r>
            <a:r>
              <a:rPr lang="en-US" altLang="ko-KR" dirty="0" smtClean="0"/>
              <a:t>20page </a:t>
            </a:r>
            <a:r>
              <a:rPr lang="ko-KR" altLang="en-US" dirty="0" smtClean="0"/>
              <a:t>참조</a:t>
            </a:r>
            <a:endParaRPr lang="en-US" altLang="ko-KR" dirty="0" smtClean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가입 및 로그인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(3/4)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720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3004D0-D63C-4A28-8D67-81004CA75585}"/>
              </a:ext>
            </a:extLst>
          </p:cNvPr>
          <p:cNvSpPr/>
          <p:nvPr/>
        </p:nvSpPr>
        <p:spPr>
          <a:xfrm>
            <a:off x="124901" y="990218"/>
            <a:ext cx="4220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협력업체가 받는 메일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가입 승인 완료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알림창</a:t>
            </a:r>
            <a:endParaRPr lang="ko-KR" altLang="en-US" sz="16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3004D0-D63C-4A28-8D67-81004CA75585}"/>
              </a:ext>
            </a:extLst>
          </p:cNvPr>
          <p:cNvSpPr/>
          <p:nvPr/>
        </p:nvSpPr>
        <p:spPr>
          <a:xfrm>
            <a:off x="6096000" y="990218"/>
            <a:ext cx="4220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협력업체가 받는 메일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가입 반려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알림창</a:t>
            </a:r>
            <a:endParaRPr lang="ko-KR" altLang="en-US" sz="1600" dirty="0"/>
          </a:p>
        </p:txBody>
      </p:sp>
      <p:grpSp>
        <p:nvGrpSpPr>
          <p:cNvPr id="8" name="그룹 7"/>
          <p:cNvGrpSpPr/>
          <p:nvPr/>
        </p:nvGrpSpPr>
        <p:grpSpPr>
          <a:xfrm>
            <a:off x="124901" y="1843721"/>
            <a:ext cx="7172325" cy="3314700"/>
            <a:chOff x="229676" y="1866790"/>
            <a:chExt cx="7172325" cy="3314700"/>
          </a:xfrm>
        </p:grpSpPr>
        <p:grpSp>
          <p:nvGrpSpPr>
            <p:cNvPr id="7" name="그룹 6"/>
            <p:cNvGrpSpPr/>
            <p:nvPr/>
          </p:nvGrpSpPr>
          <p:grpSpPr>
            <a:xfrm>
              <a:off x="229676" y="1866790"/>
              <a:ext cx="7172325" cy="3314700"/>
              <a:chOff x="2624137" y="2701766"/>
              <a:chExt cx="7172325" cy="3314700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24137" y="2701766"/>
                <a:ext cx="7172325" cy="3314700"/>
              </a:xfrm>
              <a:prstGeom prst="rect">
                <a:avLst/>
              </a:prstGeom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3493414" y="3455371"/>
                <a:ext cx="360496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 smtClean="0"/>
                  <a:t>[</a:t>
                </a:r>
                <a:r>
                  <a:rPr lang="en-US" altLang="ko-KR" sz="1200" dirty="0" err="1" smtClean="0"/>
                  <a:t>PANocean</a:t>
                </a:r>
                <a:r>
                  <a:rPr lang="en-US" altLang="ko-KR" sz="1200" dirty="0" smtClean="0"/>
                  <a:t>] </a:t>
                </a:r>
                <a:r>
                  <a:rPr lang="ko-KR" altLang="en-US" sz="1200" dirty="0" smtClean="0"/>
                  <a:t>안전보건포털 가입 신청 승인 완료</a:t>
                </a:r>
                <a:endParaRPr lang="ko-KR" altLang="en-US" sz="12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748930" y="3997255"/>
                <a:ext cx="6922738" cy="17543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 smtClean="0"/>
              </a:p>
              <a:p>
                <a:endParaRPr lang="en-US" altLang="ko-KR" sz="1200" dirty="0" smtClean="0"/>
              </a:p>
              <a:p>
                <a:r>
                  <a:rPr lang="en-US" altLang="ko-KR" sz="1200" dirty="0" err="1" smtClean="0"/>
                  <a:t>PANocean</a:t>
                </a:r>
                <a:r>
                  <a:rPr lang="ko-KR" altLang="en-US" sz="1200" dirty="0" smtClean="0"/>
                  <a:t> 안전보건포털 가입신청이 승인되었습니다</a:t>
                </a:r>
                <a:r>
                  <a:rPr lang="en-US" altLang="ko-KR" sz="1200" dirty="0" smtClean="0"/>
                  <a:t>.</a:t>
                </a:r>
              </a:p>
              <a:p>
                <a:endParaRPr lang="en-US" altLang="ko-KR" sz="1200" dirty="0"/>
              </a:p>
              <a:p>
                <a:r>
                  <a:rPr lang="ko-KR" altLang="en-US" sz="1200" u="sng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포털 </a:t>
                </a:r>
                <a:r>
                  <a:rPr lang="ko-KR" altLang="en-US" sz="1200" u="sng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바로가기</a:t>
                </a:r>
                <a:endParaRPr lang="en-US" altLang="ko-KR" sz="1200" u="sng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altLang="ko-KR" sz="1200" u="sng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altLang="ko-KR" sz="1200" u="sng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altLang="ko-KR" sz="1200" dirty="0" smtClean="0"/>
                  <a:t>※ </a:t>
                </a:r>
                <a:r>
                  <a:rPr lang="ko-KR" altLang="en-US" sz="1200" dirty="0" smtClean="0"/>
                  <a:t>문의사항이 있으시면 </a:t>
                </a:r>
                <a:r>
                  <a:rPr lang="ko-KR" altLang="en-US" sz="1200" dirty="0" err="1" smtClean="0"/>
                  <a:t>팬오션</a:t>
                </a:r>
                <a:r>
                  <a:rPr lang="ko-KR" altLang="en-US" sz="1200" dirty="0" smtClean="0"/>
                  <a:t> 안전경영팀</a:t>
                </a:r>
                <a:r>
                  <a:rPr lang="en-US" altLang="ko-KR" sz="1200" dirty="0" smtClean="0"/>
                  <a:t>(02-316-0000)</a:t>
                </a:r>
                <a:r>
                  <a:rPr lang="ko-KR" altLang="en-US" sz="1200" dirty="0" smtClean="0"/>
                  <a:t>으로 </a:t>
                </a:r>
                <a:r>
                  <a:rPr lang="ko-KR" altLang="en-US" sz="1200" dirty="0" err="1" smtClean="0"/>
                  <a:t>연락주시기</a:t>
                </a:r>
                <a:r>
                  <a:rPr lang="ko-KR" altLang="en-US" sz="1200" dirty="0" smtClean="0"/>
                  <a:t> 바랍니다</a:t>
                </a:r>
                <a:r>
                  <a:rPr lang="en-US" altLang="ko-KR" sz="1200" dirty="0" smtClean="0"/>
                  <a:t>.</a:t>
                </a:r>
              </a:p>
              <a:p>
                <a:r>
                  <a:rPr lang="ko-KR" altLang="en-US" sz="1200" u="sng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endParaRPr lang="en-US" altLang="ko-KR" sz="1200" u="sng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847724" y="2897394"/>
              <a:ext cx="2080033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ko-KR" altLang="en-US" sz="800" dirty="0"/>
            </a:p>
          </p:txBody>
        </p:sp>
      </p:grpSp>
      <p:pic>
        <p:nvPicPr>
          <p:cNvPr id="22" name="그림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03" y="4787993"/>
            <a:ext cx="2752555" cy="994621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6096001" y="1830067"/>
            <a:ext cx="6069729" cy="4068305"/>
            <a:chOff x="5899593" y="2266840"/>
            <a:chExt cx="6069729" cy="4068305"/>
          </a:xfrm>
        </p:grpSpPr>
        <p:grpSp>
          <p:nvGrpSpPr>
            <p:cNvPr id="14" name="그룹 13"/>
            <p:cNvGrpSpPr/>
            <p:nvPr/>
          </p:nvGrpSpPr>
          <p:grpSpPr>
            <a:xfrm>
              <a:off x="5899593" y="2266840"/>
              <a:ext cx="6069729" cy="3314700"/>
              <a:chOff x="229677" y="1866790"/>
              <a:chExt cx="6069729" cy="3314700"/>
            </a:xfrm>
          </p:grpSpPr>
          <p:grpSp>
            <p:nvGrpSpPr>
              <p:cNvPr id="17" name="그룹 16"/>
              <p:cNvGrpSpPr/>
              <p:nvPr/>
            </p:nvGrpSpPr>
            <p:grpSpPr>
              <a:xfrm>
                <a:off x="229677" y="1866790"/>
                <a:ext cx="6069729" cy="3314700"/>
                <a:chOff x="2624138" y="2701766"/>
                <a:chExt cx="6069729" cy="3314700"/>
              </a:xfrm>
            </p:grpSpPr>
            <p:pic>
              <p:nvPicPr>
                <p:cNvPr id="19" name="그림 18"/>
                <p:cNvPicPr>
                  <a:picLocks noChangeAspect="1"/>
                </p:cNvPicPr>
                <p:nvPr/>
              </p:nvPicPr>
              <p:blipFill rotWithShape="1">
                <a:blip r:embed="rId2"/>
                <a:srcRect r="16733"/>
                <a:stretch/>
              </p:blipFill>
              <p:spPr>
                <a:xfrm>
                  <a:off x="2624138" y="2701766"/>
                  <a:ext cx="5972174" cy="3314700"/>
                </a:xfrm>
                <a:prstGeom prst="rect">
                  <a:avLst/>
                </a:prstGeom>
              </p:spPr>
            </p:pic>
            <p:sp>
              <p:nvSpPr>
                <p:cNvPr id="20" name="TextBox 19"/>
                <p:cNvSpPr txBox="1"/>
                <p:nvPr/>
              </p:nvSpPr>
              <p:spPr>
                <a:xfrm>
                  <a:off x="3493415" y="3455371"/>
                  <a:ext cx="3377796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 smtClean="0"/>
                    <a:t>[</a:t>
                  </a:r>
                  <a:r>
                    <a:rPr lang="en-US" altLang="ko-KR" sz="1200" dirty="0" err="1" smtClean="0"/>
                    <a:t>PANocean</a:t>
                  </a:r>
                  <a:r>
                    <a:rPr lang="en-US" altLang="ko-KR" sz="1200" dirty="0" smtClean="0"/>
                    <a:t>] </a:t>
                  </a:r>
                  <a:r>
                    <a:rPr lang="ko-KR" altLang="en-US" sz="1200" dirty="0" smtClean="0"/>
                    <a:t>안전보건포털 가입 신청 반려</a:t>
                  </a:r>
                  <a:endParaRPr lang="ko-KR" altLang="en-US" sz="1200" dirty="0"/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2748930" y="3997255"/>
                  <a:ext cx="5944937" cy="193899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 altLang="ko-KR" sz="1200" dirty="0" smtClean="0"/>
                </a:p>
                <a:p>
                  <a:endParaRPr lang="en-US" altLang="ko-KR" sz="1200" dirty="0"/>
                </a:p>
                <a:p>
                  <a:r>
                    <a:rPr lang="en-US" altLang="ko-KR" sz="1200" dirty="0" err="1" smtClean="0"/>
                    <a:t>PANocean</a:t>
                  </a:r>
                  <a:r>
                    <a:rPr lang="en-US" altLang="ko-KR" sz="1200" dirty="0" smtClean="0"/>
                    <a:t> </a:t>
                  </a:r>
                  <a:r>
                    <a:rPr lang="ko-KR" altLang="en-US" sz="1200" dirty="0" smtClean="0"/>
                    <a:t>안전보건포털 가입신청이 반려되었습니다</a:t>
                  </a:r>
                  <a:r>
                    <a:rPr lang="en-US" altLang="ko-KR" sz="1200" dirty="0" smtClean="0"/>
                    <a:t>.</a:t>
                  </a:r>
                </a:p>
                <a:p>
                  <a:r>
                    <a:rPr lang="ko-KR" altLang="en-US" sz="1200" dirty="0" err="1" smtClean="0"/>
                    <a:t>반려사유</a:t>
                  </a:r>
                  <a:r>
                    <a:rPr lang="en-US" altLang="ko-KR" sz="1200" dirty="0" smtClean="0"/>
                    <a:t>: OOOOO</a:t>
                  </a:r>
                </a:p>
                <a:p>
                  <a:endParaRPr lang="en-US" altLang="ko-KR" sz="1200" dirty="0"/>
                </a:p>
                <a:p>
                  <a:r>
                    <a:rPr lang="ko-KR" altLang="en-US" sz="1200" u="sng" dirty="0" smtClean="0">
                      <a:solidFill>
                        <a:schemeClr val="accent1">
                          <a:lumMod val="75000"/>
                        </a:schemeClr>
                      </a:solidFill>
                    </a:rPr>
                    <a:t>포털 </a:t>
                  </a:r>
                  <a:r>
                    <a:rPr lang="ko-KR" altLang="en-US" sz="1200" u="sng" dirty="0" err="1" smtClean="0">
                      <a:solidFill>
                        <a:schemeClr val="accent1">
                          <a:lumMod val="75000"/>
                        </a:schemeClr>
                      </a:solidFill>
                    </a:rPr>
                    <a:t>바로가기</a:t>
                  </a:r>
                  <a:endParaRPr lang="en-US" altLang="ko-KR" sz="1200" u="sng" dirty="0" smtClean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  <a:p>
                  <a:endParaRPr lang="en-US" altLang="ko-KR" sz="1200" u="sng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  <a:p>
                  <a:endParaRPr lang="en-US" altLang="ko-KR" sz="1200" u="sng" dirty="0" smtClean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  <a:p>
                  <a:r>
                    <a:rPr lang="en-US" altLang="ko-KR" sz="1200" dirty="0" smtClean="0"/>
                    <a:t>※ </a:t>
                  </a:r>
                  <a:r>
                    <a:rPr lang="ko-KR" altLang="en-US" sz="1200" dirty="0" smtClean="0"/>
                    <a:t>문의사항이 있으시면 </a:t>
                  </a:r>
                  <a:r>
                    <a:rPr lang="ko-KR" altLang="en-US" sz="1200" dirty="0" err="1" smtClean="0"/>
                    <a:t>팬오션</a:t>
                  </a:r>
                  <a:r>
                    <a:rPr lang="ko-KR" altLang="en-US" sz="1200" dirty="0" smtClean="0"/>
                    <a:t> 안전경영팀</a:t>
                  </a:r>
                  <a:r>
                    <a:rPr lang="en-US" altLang="ko-KR" sz="1200" dirty="0" smtClean="0"/>
                    <a:t>(02-316-0000)</a:t>
                  </a:r>
                  <a:r>
                    <a:rPr lang="ko-KR" altLang="en-US" sz="1200" dirty="0" smtClean="0"/>
                    <a:t>으로 </a:t>
                  </a:r>
                  <a:r>
                    <a:rPr lang="ko-KR" altLang="en-US" sz="1200" dirty="0" err="1" smtClean="0"/>
                    <a:t>연락주시기</a:t>
                  </a:r>
                  <a:r>
                    <a:rPr lang="ko-KR" altLang="en-US" sz="1200" dirty="0" smtClean="0"/>
                    <a:t> 바랍니다</a:t>
                  </a:r>
                  <a:r>
                    <a:rPr lang="en-US" altLang="ko-KR" sz="1200" dirty="0" smtClean="0"/>
                    <a:t>.</a:t>
                  </a:r>
                </a:p>
                <a:p>
                  <a:r>
                    <a:rPr lang="ko-KR" altLang="en-US" sz="1200" u="sng" dirty="0" smtClean="0">
                      <a:solidFill>
                        <a:schemeClr val="accent1">
                          <a:lumMod val="75000"/>
                        </a:schemeClr>
                      </a:solidFill>
                    </a:rPr>
                    <a:t> </a:t>
                  </a:r>
                  <a:endParaRPr lang="en-US" altLang="ko-KR" sz="1200" u="sng" dirty="0" smtClean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p:grpSp>
          <p:sp>
            <p:nvSpPr>
              <p:cNvPr id="18" name="TextBox 17"/>
              <p:cNvSpPr txBox="1"/>
              <p:nvPr/>
            </p:nvSpPr>
            <p:spPr>
              <a:xfrm>
                <a:off x="847724" y="2897394"/>
                <a:ext cx="2080033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ko-KR" altLang="en-US" sz="800" dirty="0"/>
              </a:p>
            </p:txBody>
          </p:sp>
        </p:grp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7148" y="5340524"/>
              <a:ext cx="2752555" cy="994621"/>
            </a:xfrm>
            <a:prstGeom prst="rect">
              <a:avLst/>
            </a:prstGeom>
          </p:spPr>
        </p:pic>
      </p:grpSp>
      <p:sp>
        <p:nvSpPr>
          <p:cNvPr id="11" name="모서리가 둥근 사각형 설명선 10"/>
          <p:cNvSpPr/>
          <p:nvPr/>
        </p:nvSpPr>
        <p:spPr>
          <a:xfrm>
            <a:off x="8654176" y="3836871"/>
            <a:ext cx="2601887" cy="611269"/>
          </a:xfrm>
          <a:prstGeom prst="wedgeRoundRectCallout">
            <a:avLst>
              <a:gd name="adj1" fmla="val -87757"/>
              <a:gd name="adj2" fmla="val -4912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포털에서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반려사유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적으면 적용될 수 있도록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가입 및 로그인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(4/4)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467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4" y="960197"/>
            <a:ext cx="25082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안전보건 경영방침</a:t>
            </a:r>
            <a:r>
              <a:rPr lang="ko-KR" altLang="en-US" dirty="0"/>
              <a:t>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F35837-DB94-4EFF-9A92-3B1C6B3AEFAD}"/>
              </a:ext>
            </a:extLst>
          </p:cNvPr>
          <p:cNvSpPr/>
          <p:nvPr/>
        </p:nvSpPr>
        <p:spPr>
          <a:xfrm>
            <a:off x="4307313" y="955660"/>
            <a:ext cx="20447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안전보건 목표</a:t>
            </a:r>
            <a:r>
              <a:rPr lang="ko-KR" altLang="en-US" dirty="0"/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6BBF7B4-87C5-4086-99F7-7A3E3D8BFC52}"/>
              </a:ext>
            </a:extLst>
          </p:cNvPr>
          <p:cNvSpPr/>
          <p:nvPr/>
        </p:nvSpPr>
        <p:spPr>
          <a:xfrm>
            <a:off x="8292088" y="942734"/>
            <a:ext cx="20447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안전보건 인증</a:t>
            </a:r>
            <a:r>
              <a:rPr lang="ko-KR" altLang="en-US" dirty="0"/>
              <a:t> 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3B142BC-6537-411A-848A-0D0BEE1B5FC4}"/>
              </a:ext>
            </a:extLst>
          </p:cNvPr>
          <p:cNvCxnSpPr/>
          <p:nvPr/>
        </p:nvCxnSpPr>
        <p:spPr>
          <a:xfrm>
            <a:off x="3967993" y="955660"/>
            <a:ext cx="0" cy="5478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5414A9B7-838D-4DCC-93D8-3FCF82214FD5}"/>
              </a:ext>
            </a:extLst>
          </p:cNvPr>
          <p:cNvCxnSpPr/>
          <p:nvPr/>
        </p:nvCxnSpPr>
        <p:spPr>
          <a:xfrm>
            <a:off x="7979329" y="955660"/>
            <a:ext cx="0" cy="5478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90" y="1311034"/>
            <a:ext cx="3522595" cy="49815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369" y="1498760"/>
            <a:ext cx="3288399" cy="4635128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84558" y="159391"/>
            <a:ext cx="5041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소개 </a:t>
            </a:r>
            <a:r>
              <a:rPr lang="en-US" altLang="ko-KR" dirty="0" smtClean="0"/>
              <a:t>(1/1)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69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2" y="960197"/>
            <a:ext cx="50404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사업장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선박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안전보건 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협력업체용</a:t>
            </a:r>
            <a:endParaRPr lang="ko-KR" altLang="en-US" dirty="0"/>
          </a:p>
        </p:txBody>
      </p:sp>
      <p:graphicFrame>
        <p:nvGraphicFramePr>
          <p:cNvPr id="8" name="다이어그램 7">
            <a:extLst>
              <a:ext uri="{FF2B5EF4-FFF2-40B4-BE49-F238E27FC236}">
                <a16:creationId xmlns:a16="http://schemas.microsoft.com/office/drawing/2014/main" id="{B87DE573-0C12-4F42-8A96-24FE36E1D7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139389"/>
              </p:ext>
            </p:extLst>
          </p:nvPr>
        </p:nvGraphicFramePr>
        <p:xfrm>
          <a:off x="532175" y="1516296"/>
          <a:ext cx="10992814" cy="3947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4AA450B5-6DC5-42BB-A2AE-9AC357B32685}"/>
              </a:ext>
            </a:extLst>
          </p:cNvPr>
          <p:cNvSpPr/>
          <p:nvPr/>
        </p:nvSpPr>
        <p:spPr>
          <a:xfrm>
            <a:off x="642716" y="5650209"/>
            <a:ext cx="294824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도급업체 안전보건관리 절차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절차서 등재</a:t>
            </a:r>
            <a:endParaRPr lang="ko-KR" altLang="en-US" sz="1600" dirty="0"/>
          </a:p>
        </p:txBody>
      </p:sp>
      <p:sp>
        <p:nvSpPr>
          <p:cNvPr id="5" name="모서리가 둥근 사각형 설명선 4"/>
          <p:cNvSpPr/>
          <p:nvPr/>
        </p:nvSpPr>
        <p:spPr>
          <a:xfrm>
            <a:off x="7778496" y="5662353"/>
            <a:ext cx="2428875" cy="714375"/>
          </a:xfrm>
          <a:prstGeom prst="wedgeRoundRectCallout">
            <a:avLst>
              <a:gd name="adj1" fmla="val -116192"/>
              <a:gd name="adj2" fmla="val 1583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화면 누르면 </a:t>
            </a:r>
            <a:r>
              <a:rPr lang="en-US" altLang="ko-KR" sz="1600" dirty="0" smtClean="0">
                <a:solidFill>
                  <a:schemeClr val="tx1"/>
                </a:solidFill>
              </a:rPr>
              <a:t>pdf </a:t>
            </a: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다운로드 가능하도록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450B5-6DC5-42BB-A2AE-9AC357B32685}"/>
              </a:ext>
            </a:extLst>
          </p:cNvPr>
          <p:cNvSpPr/>
          <p:nvPr/>
        </p:nvSpPr>
        <p:spPr>
          <a:xfrm>
            <a:off x="4178396" y="5650209"/>
            <a:ext cx="185018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위험성평가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절차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>
              <a:spcAft>
                <a:spcPts val="1200"/>
              </a:spcAft>
            </a:pP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절차서 등재</a:t>
            </a:r>
            <a:endParaRPr lang="ko-KR" altLang="en-US" sz="16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smtClean="0"/>
              <a:t>협력업체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smtClean="0"/>
              <a:t>1/7)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864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2" y="960197"/>
            <a:ext cx="5424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사업장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선박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안전보건 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항운노조는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어떻게 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?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smtClean="0"/>
              <a:t>협력업체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(2/7)</a:t>
            </a:r>
            <a:endParaRPr lang="ko-KR" altLang="en-US" dirty="0"/>
          </a:p>
        </p:txBody>
      </p:sp>
      <p:pic>
        <p:nvPicPr>
          <p:cNvPr id="4100" name="Picture 4" descr="업데이트된 안전교육 이수 모바일 UI 워크플로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29" y="1495229"/>
            <a:ext cx="8767636" cy="474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/>
          <p:cNvSpPr/>
          <p:nvPr/>
        </p:nvSpPr>
        <p:spPr>
          <a:xfrm>
            <a:off x="8915400" y="4544568"/>
            <a:ext cx="941832" cy="97840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79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503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사업장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선박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출입신청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399A85A-ED73-4725-9EE5-6FB74A5DF143}"/>
              </a:ext>
            </a:extLst>
          </p:cNvPr>
          <p:cNvCxnSpPr>
            <a:cxnSpLocks/>
          </p:cNvCxnSpPr>
          <p:nvPr/>
        </p:nvCxnSpPr>
        <p:spPr>
          <a:xfrm flipV="1">
            <a:off x="1464816" y="1518082"/>
            <a:ext cx="8105312" cy="79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61982" y="1349919"/>
            <a:ext cx="95902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495A63-7EF9-4DC8-AF52-055BFAFCE4FC}"/>
              </a:ext>
            </a:extLst>
          </p:cNvPr>
          <p:cNvSpPr/>
          <p:nvPr/>
        </p:nvSpPr>
        <p:spPr>
          <a:xfrm>
            <a:off x="9169167" y="1518082"/>
            <a:ext cx="748555" cy="3989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93160"/>
              </p:ext>
            </p:extLst>
          </p:nvPr>
        </p:nvGraphicFramePr>
        <p:xfrm>
          <a:off x="1612900" y="2312194"/>
          <a:ext cx="8966200" cy="3378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387363022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882412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099524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79153809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9738623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3178258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1577448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12322372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605442921"/>
                    </a:ext>
                  </a:extLst>
                </a:gridCol>
              </a:tblGrid>
              <a:tr h="2095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사업장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출입신청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excel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인쇄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92622"/>
                  </a:ext>
                </a:extLst>
              </a:tr>
              <a:tr h="126365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48558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No.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업종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방문사업장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지역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작업일정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작업상세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출입신청인원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977718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작성중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검수업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PAN BONA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2025.02.03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~2025.02.20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검수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74833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제출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PAN TAEAN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울산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2025.01.05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~2025.02.02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94689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44143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0014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85511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320285"/>
                  </a:ext>
                </a:extLst>
              </a:tr>
            </a:tbl>
          </a:graphicData>
        </a:graphic>
      </p:graphicFrame>
      <p:sp>
        <p:nvSpPr>
          <p:cNvPr id="9" name="사각형 설명선 8"/>
          <p:cNvSpPr/>
          <p:nvPr/>
        </p:nvSpPr>
        <p:spPr>
          <a:xfrm>
            <a:off x="4513278" y="1140577"/>
            <a:ext cx="2248249" cy="755009"/>
          </a:xfrm>
          <a:prstGeom prst="wedgeRectCallout">
            <a:avLst>
              <a:gd name="adj1" fmla="val -142157"/>
              <a:gd name="adj2" fmla="val 9738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클릭 시 다음 페이지 팝업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smtClean="0"/>
              <a:t>협력업체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3</a:t>
            </a:r>
            <a:r>
              <a:rPr lang="en-US" altLang="ko-KR" dirty="0" smtClean="0"/>
              <a:t>/7)</a:t>
            </a:r>
            <a:endParaRPr lang="ko-KR" altLang="en-US" dirty="0"/>
          </a:p>
        </p:txBody>
      </p:sp>
      <p:sp>
        <p:nvSpPr>
          <p:cNvPr id="12" name="사각형 설명선 11"/>
          <p:cNvSpPr/>
          <p:nvPr/>
        </p:nvSpPr>
        <p:spPr>
          <a:xfrm>
            <a:off x="7401574" y="1140576"/>
            <a:ext cx="2733026" cy="755009"/>
          </a:xfrm>
          <a:prstGeom prst="wedgeRectCallout">
            <a:avLst>
              <a:gd name="adj1" fmla="val -29463"/>
              <a:gd name="adj2" fmla="val 16425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모든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작업일정</a:t>
            </a:r>
            <a:r>
              <a:rPr lang="ko-KR" altLang="en-US" sz="1400" dirty="0" smtClean="0">
                <a:solidFill>
                  <a:schemeClr val="tx1"/>
                </a:solidFill>
              </a:rPr>
              <a:t> 캘린더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자동등록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70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158893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사업장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출입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신청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클릭 시</a:t>
            </a:r>
            <a:endParaRPr lang="ko-KR" altLang="en-US" dirty="0"/>
          </a:p>
        </p:txBody>
      </p:sp>
      <p:sp>
        <p:nvSpPr>
          <p:cNvPr id="16" name="사각형 설명선 15"/>
          <p:cNvSpPr/>
          <p:nvPr/>
        </p:nvSpPr>
        <p:spPr>
          <a:xfrm>
            <a:off x="9798510" y="4703672"/>
            <a:ext cx="2248249" cy="755009"/>
          </a:xfrm>
          <a:prstGeom prst="wedgeRectCallout">
            <a:avLst>
              <a:gd name="adj1" fmla="val -133586"/>
              <a:gd name="adj2" fmla="val 6827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파일첨부 및 교육이수 </a:t>
            </a:r>
            <a:endParaRPr lang="en-US" altLang="ko-KR" sz="14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완료해야 승선 신청 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버튼 활성화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사각형 설명선 17"/>
          <p:cNvSpPr/>
          <p:nvPr/>
        </p:nvSpPr>
        <p:spPr>
          <a:xfrm>
            <a:off x="5652333" y="5964085"/>
            <a:ext cx="3107620" cy="755009"/>
          </a:xfrm>
          <a:prstGeom prst="wedgeRectCallout">
            <a:avLst>
              <a:gd name="adj1" fmla="val -85426"/>
              <a:gd name="adj2" fmla="val -6372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엑셀 등록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임시저장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교육 신청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카카오톡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안내 일괄 발송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075583"/>
              </p:ext>
            </p:extLst>
          </p:nvPr>
        </p:nvGraphicFramePr>
        <p:xfrm>
          <a:off x="2050463" y="1416621"/>
          <a:ext cx="7849471" cy="4351332"/>
        </p:xfrm>
        <a:graphic>
          <a:graphicData uri="http://schemas.openxmlformats.org/drawingml/2006/table">
            <a:tbl>
              <a:tblPr/>
              <a:tblGrid>
                <a:gridCol w="1000308">
                  <a:extLst>
                    <a:ext uri="{9D8B030D-6E8A-4147-A177-3AD203B41FA5}">
                      <a16:colId xmlns:a16="http://schemas.microsoft.com/office/drawing/2014/main" val="367172788"/>
                    </a:ext>
                  </a:extLst>
                </a:gridCol>
                <a:gridCol w="1059149">
                  <a:extLst>
                    <a:ext uri="{9D8B030D-6E8A-4147-A177-3AD203B41FA5}">
                      <a16:colId xmlns:a16="http://schemas.microsoft.com/office/drawing/2014/main" val="3074300210"/>
                    </a:ext>
                  </a:extLst>
                </a:gridCol>
                <a:gridCol w="847319">
                  <a:extLst>
                    <a:ext uri="{9D8B030D-6E8A-4147-A177-3AD203B41FA5}">
                      <a16:colId xmlns:a16="http://schemas.microsoft.com/office/drawing/2014/main" val="2484421818"/>
                    </a:ext>
                  </a:extLst>
                </a:gridCol>
                <a:gridCol w="1059149">
                  <a:extLst>
                    <a:ext uri="{9D8B030D-6E8A-4147-A177-3AD203B41FA5}">
                      <a16:colId xmlns:a16="http://schemas.microsoft.com/office/drawing/2014/main" val="3884803303"/>
                    </a:ext>
                  </a:extLst>
                </a:gridCol>
                <a:gridCol w="1412199">
                  <a:extLst>
                    <a:ext uri="{9D8B030D-6E8A-4147-A177-3AD203B41FA5}">
                      <a16:colId xmlns:a16="http://schemas.microsoft.com/office/drawing/2014/main" val="1300635597"/>
                    </a:ext>
                  </a:extLst>
                </a:gridCol>
                <a:gridCol w="1059149">
                  <a:extLst>
                    <a:ext uri="{9D8B030D-6E8A-4147-A177-3AD203B41FA5}">
                      <a16:colId xmlns:a16="http://schemas.microsoft.com/office/drawing/2014/main" val="3138507291"/>
                    </a:ext>
                  </a:extLst>
                </a:gridCol>
                <a:gridCol w="706099">
                  <a:extLst>
                    <a:ext uri="{9D8B030D-6E8A-4147-A177-3AD203B41FA5}">
                      <a16:colId xmlns:a16="http://schemas.microsoft.com/office/drawing/2014/main" val="2547841073"/>
                    </a:ext>
                  </a:extLst>
                </a:gridCol>
                <a:gridCol w="706099">
                  <a:extLst>
                    <a:ext uri="{9D8B030D-6E8A-4147-A177-3AD203B41FA5}">
                      <a16:colId xmlns:a16="http://schemas.microsoft.com/office/drawing/2014/main" val="624113087"/>
                    </a:ext>
                  </a:extLst>
                </a:gridCol>
              </a:tblGrid>
              <a:tr h="308919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사업장방문신청</a:t>
                      </a:r>
                    </a:p>
                  </a:txBody>
                  <a:tcPr marL="8826" marR="8826" marT="8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49507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913842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방문사업장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지역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404668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회사명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408833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안전담당자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성명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Tel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E-Mail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406316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 상세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7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858877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 일정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: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21949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536762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작업자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List</a:t>
                      </a: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593382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037585"/>
                  </a:ext>
                </a:extLst>
              </a:tr>
              <a:tr h="3530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작업자명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직책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직위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생년월일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yymmdd)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핸드폰 번호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교육이수 일자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이수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확인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이수증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출력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삭제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0969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홍길동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과장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81.11.01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000-0000-0000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2026.02.20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이수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þ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292541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김두한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대리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92.02.12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000-0000-0000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2026.02.26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미이수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þ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370791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시라소니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차장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75.09.08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000-0000-0000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2026.02.29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이수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þ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04684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267882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5992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72487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082785"/>
                  </a:ext>
                </a:extLst>
              </a:tr>
              <a:tr h="194177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※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</a:t>
                      </a:r>
                      <a:r>
                        <a:rPr lang="ko-KR" altLang="ko-KR" sz="1000" b="1" dirty="0" err="1" smtClean="0"/>
                        <a:t>위험성평가</a:t>
                      </a:r>
                      <a:r>
                        <a:rPr lang="en-US" altLang="ko-KR" sz="1000" b="1" dirty="0" smtClean="0"/>
                        <a:t>, </a:t>
                      </a:r>
                      <a:r>
                        <a:rPr lang="ko-KR" altLang="ko-KR" sz="1000" b="1" dirty="0" smtClean="0"/>
                        <a:t>안전보건서약서</a:t>
                      </a:r>
                      <a:r>
                        <a:rPr lang="en-US" altLang="ko-KR" sz="1000" b="1" dirty="0" smtClean="0"/>
                        <a:t>, </a:t>
                      </a:r>
                      <a:r>
                        <a:rPr lang="ko-KR" altLang="en-US" sz="1000" b="1" dirty="0" err="1" smtClean="0"/>
                        <a:t>작업계획서</a:t>
                      </a:r>
                      <a:r>
                        <a:rPr lang="ko-KR" altLang="en-US" sz="1000" b="1" baseline="0" dirty="0" smtClean="0"/>
                        <a:t> </a:t>
                      </a:r>
                      <a:r>
                        <a:rPr lang="ko-KR" altLang="en-US" sz="1000" b="1" baseline="0" dirty="0" smtClean="0"/>
                        <a:t>첨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부하기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8826" marR="8826" marT="8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     위험성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평가표 없음</a:t>
                      </a:r>
                    </a:p>
                  </a:txBody>
                  <a:tcPr marL="8826" marR="8826" marT="8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þ</a:t>
                      </a:r>
                    </a:p>
                  </a:txBody>
                  <a:tcPr marL="8826" marR="8826" marT="88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650195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433813"/>
                  </a:ext>
                </a:extLst>
              </a:tr>
              <a:tr h="194177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신청서 재사용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교육이수 조회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 신청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임시저장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이수증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승선 신청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</a:t>
                      </a: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26" marR="8826" marT="882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594555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9111369" y="3196206"/>
            <a:ext cx="788565" cy="15939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bg1"/>
                </a:solidFill>
              </a:rPr>
              <a:t>엑셀 등록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pic>
        <p:nvPicPr>
          <p:cNvPr id="1028" name="Picture 4" descr="문서 형태 아이콘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581" y="5234025"/>
            <a:ext cx="149124" cy="18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smtClean="0"/>
              <a:t>협력업체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(4/7)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8160642" y="3196206"/>
            <a:ext cx="788565" cy="15939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bg1"/>
                </a:solidFill>
              </a:rPr>
              <a:t>엑셀 </a:t>
            </a:r>
            <a:r>
              <a:rPr lang="ko-KR" altLang="en-US" sz="1000" dirty="0" smtClean="0">
                <a:solidFill>
                  <a:schemeClr val="bg1"/>
                </a:solidFill>
              </a:rPr>
              <a:t>양식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" name="액자 1"/>
          <p:cNvSpPr/>
          <p:nvPr/>
        </p:nvSpPr>
        <p:spPr>
          <a:xfrm>
            <a:off x="1820173" y="3249330"/>
            <a:ext cx="4395216" cy="1723691"/>
          </a:xfrm>
          <a:prstGeom prst="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사각형 설명선 21"/>
          <p:cNvSpPr/>
          <p:nvPr/>
        </p:nvSpPr>
        <p:spPr>
          <a:xfrm>
            <a:off x="208195" y="4427893"/>
            <a:ext cx="2736173" cy="720179"/>
          </a:xfrm>
          <a:prstGeom prst="wedgeRectCallout">
            <a:avLst>
              <a:gd name="adj1" fmla="val -564"/>
              <a:gd name="adj2" fmla="val 13082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신청서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재사용시</a:t>
            </a:r>
            <a:r>
              <a:rPr lang="ko-KR" altLang="en-US" sz="1400" dirty="0" smtClean="0">
                <a:solidFill>
                  <a:schemeClr val="tx1"/>
                </a:solidFill>
              </a:rPr>
              <a:t> 교육이수일자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제외한 나머지는 그대로 입력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52803" y="3233391"/>
            <a:ext cx="2080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엑셀 업로드 구역</a:t>
            </a:r>
            <a:endParaRPr lang="ko-KR" altLang="en-US" sz="1200" dirty="0"/>
          </a:p>
        </p:txBody>
      </p:sp>
      <p:sp>
        <p:nvSpPr>
          <p:cNvPr id="15" name="사각형 설명선 14"/>
          <p:cNvSpPr/>
          <p:nvPr/>
        </p:nvSpPr>
        <p:spPr>
          <a:xfrm>
            <a:off x="17965" y="2967223"/>
            <a:ext cx="2032498" cy="274137"/>
          </a:xfrm>
          <a:prstGeom prst="wedgeRectCallout">
            <a:avLst>
              <a:gd name="adj1" fmla="val 57142"/>
              <a:gd name="adj2" fmla="val 31094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첫 행 사람</a:t>
            </a:r>
            <a:r>
              <a:rPr lang="en-US" altLang="ko-KR" sz="1400" dirty="0" smtClean="0">
                <a:solidFill>
                  <a:schemeClr val="tx1"/>
                </a:solidFill>
              </a:rPr>
              <a:t>: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승선대표자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4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158893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출입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신청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후 방문 허가서</a:t>
            </a:r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75410"/>
              </p:ext>
            </p:extLst>
          </p:nvPr>
        </p:nvGraphicFramePr>
        <p:xfrm>
          <a:off x="3275669" y="1765126"/>
          <a:ext cx="5506438" cy="4354890"/>
        </p:xfrm>
        <a:graphic>
          <a:graphicData uri="http://schemas.openxmlformats.org/drawingml/2006/table">
            <a:tbl>
              <a:tblPr/>
              <a:tblGrid>
                <a:gridCol w="375226">
                  <a:extLst>
                    <a:ext uri="{9D8B030D-6E8A-4147-A177-3AD203B41FA5}">
                      <a16:colId xmlns:a16="http://schemas.microsoft.com/office/drawing/2014/main" val="1223799259"/>
                    </a:ext>
                  </a:extLst>
                </a:gridCol>
                <a:gridCol w="900542">
                  <a:extLst>
                    <a:ext uri="{9D8B030D-6E8A-4147-A177-3AD203B41FA5}">
                      <a16:colId xmlns:a16="http://schemas.microsoft.com/office/drawing/2014/main" val="1875536343"/>
                    </a:ext>
                  </a:extLst>
                </a:gridCol>
                <a:gridCol w="1228864">
                  <a:extLst>
                    <a:ext uri="{9D8B030D-6E8A-4147-A177-3AD203B41FA5}">
                      <a16:colId xmlns:a16="http://schemas.microsoft.com/office/drawing/2014/main" val="4149846015"/>
                    </a:ext>
                  </a:extLst>
                </a:gridCol>
                <a:gridCol w="1876129">
                  <a:extLst>
                    <a:ext uri="{9D8B030D-6E8A-4147-A177-3AD203B41FA5}">
                      <a16:colId xmlns:a16="http://schemas.microsoft.com/office/drawing/2014/main" val="234349724"/>
                    </a:ext>
                  </a:extLst>
                </a:gridCol>
                <a:gridCol w="1125677">
                  <a:extLst>
                    <a:ext uri="{9D8B030D-6E8A-4147-A177-3AD203B41FA5}">
                      <a16:colId xmlns:a16="http://schemas.microsoft.com/office/drawing/2014/main" val="3119887592"/>
                    </a:ext>
                  </a:extLst>
                </a:gridCol>
              </a:tblGrid>
              <a:tr h="38482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방문 허가서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Visit Permit)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622343"/>
                  </a:ext>
                </a:extLst>
              </a:tr>
              <a:tr h="249667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600" b="1" i="0" u="none" strike="noStrike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386" marR="9386" marT="938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483517"/>
                  </a:ext>
                </a:extLst>
              </a:tr>
              <a:tr h="206491"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승선선박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Vessel Name) : PAN BONA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202056"/>
                  </a:ext>
                </a:extLst>
              </a:tr>
              <a:tr h="206491"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회사명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Company Name) : OOOO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업체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138499"/>
                  </a:ext>
                </a:extLst>
              </a:tr>
              <a:tr h="206491"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업종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Business Type) : </a:t>
                      </a: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고박업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4933"/>
                  </a:ext>
                </a:extLst>
              </a:tr>
              <a:tr h="206491">
                <a:tc gridSpan="4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작업일정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Working Period) : 2026.02.20 ~ 2026.02.28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39255"/>
                  </a:ext>
                </a:extLst>
              </a:tr>
              <a:tr h="206491">
                <a:tc gridSpan="3"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■ 작업자 리스트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(Worker List) :</a:t>
                      </a: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348496"/>
                  </a:ext>
                </a:extLst>
              </a:tr>
              <a:tr h="206491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386" marR="9386" marT="93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950201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No.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Name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Birth Date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Date of Education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Check by ship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790027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홍길동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1998.04.19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2026-02-20 9:13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55033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김두한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1992.02.12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2026-02-25 18:20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709912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3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649054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955818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488898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6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804253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7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971673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249718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9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349199"/>
                  </a:ext>
                </a:extLst>
              </a:tr>
              <a:tr h="2252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10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　</a:t>
                      </a:r>
                    </a:p>
                  </a:txBody>
                  <a:tcPr marL="9386" marR="9386" marT="938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439137"/>
                  </a:ext>
                </a:extLst>
              </a:tr>
            </a:tbl>
          </a:graphicData>
        </a:graphic>
      </p:graphicFrame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smtClean="0"/>
              <a:t>협력업체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(5/7)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370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158893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latin typeface="맑은 고딕" panose="020B0503020000020004" pitchFamily="50" charset="-127"/>
              </a:rPr>
              <a:t>○근로자 의견조회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smtClean="0"/>
              <a:t>협력업체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(6/7)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24" y="1599737"/>
            <a:ext cx="4352476" cy="5062062"/>
          </a:xfrm>
          <a:prstGeom prst="rect">
            <a:avLst/>
          </a:prstGeom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864769"/>
              </p:ext>
            </p:extLst>
          </p:nvPr>
        </p:nvGraphicFramePr>
        <p:xfrm>
          <a:off x="4289301" y="1893663"/>
          <a:ext cx="1542521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45">
                  <a:extLst>
                    <a:ext uri="{9D8B030D-6E8A-4147-A177-3AD203B41FA5}">
                      <a16:colId xmlns:a16="http://schemas.microsoft.com/office/drawing/2014/main" val="3123262753"/>
                    </a:ext>
                  </a:extLst>
                </a:gridCol>
                <a:gridCol w="761876">
                  <a:extLst>
                    <a:ext uri="{9D8B030D-6E8A-4147-A177-3AD203B41FA5}">
                      <a16:colId xmlns:a16="http://schemas.microsoft.com/office/drawing/2014/main" val="18991266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91406084"/>
                    </a:ext>
                  </a:extLst>
                </a:gridCol>
              </a:tblGrid>
              <a:tr h="1503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0" dirty="0" smtClean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dirty="0" smtClean="0"/>
                        <a:t>검색</a:t>
                      </a:r>
                      <a:endParaRPr lang="ko-KR" altLang="en-US" sz="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481054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3721762" y="1913103"/>
            <a:ext cx="396000" cy="1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등록</a:t>
            </a:r>
            <a:endParaRPr lang="ko-KR" altLang="en-US" sz="700" dirty="0"/>
          </a:p>
        </p:txBody>
      </p:sp>
      <p:sp>
        <p:nvSpPr>
          <p:cNvPr id="3" name="직사각형 2"/>
          <p:cNvSpPr/>
          <p:nvPr/>
        </p:nvSpPr>
        <p:spPr>
          <a:xfrm>
            <a:off x="1743524" y="1599737"/>
            <a:ext cx="4352476" cy="16080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/>
          <p:cNvCxnSpPr>
            <a:stCxn id="3" idx="3"/>
          </p:cNvCxnSpPr>
          <p:nvPr/>
        </p:nvCxnSpPr>
        <p:spPr>
          <a:xfrm>
            <a:off x="6096000" y="2403785"/>
            <a:ext cx="2535669" cy="97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9451" y="2219118"/>
            <a:ext cx="1071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첫화면</a:t>
            </a:r>
            <a:endParaRPr lang="ko-KR" altLang="en-US" dirty="0"/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6996866" y="4703360"/>
            <a:ext cx="2429164" cy="184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자유형 19"/>
          <p:cNvSpPr/>
          <p:nvPr/>
        </p:nvSpPr>
        <p:spPr>
          <a:xfrm>
            <a:off x="6017779" y="3891324"/>
            <a:ext cx="979087" cy="1819564"/>
          </a:xfrm>
          <a:custGeom>
            <a:avLst/>
            <a:gdLst>
              <a:gd name="connsiteX0" fmla="*/ 0 w 979087"/>
              <a:gd name="connsiteY0" fmla="*/ 0 h 1819564"/>
              <a:gd name="connsiteX1" fmla="*/ 979054 w 979087"/>
              <a:gd name="connsiteY1" fmla="*/ 831273 h 1819564"/>
              <a:gd name="connsiteX2" fmla="*/ 27709 w 979087"/>
              <a:gd name="connsiteY2" fmla="*/ 1819564 h 1819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9087" h="1819564">
                <a:moveTo>
                  <a:pt x="0" y="0"/>
                </a:moveTo>
                <a:cubicBezTo>
                  <a:pt x="487218" y="264006"/>
                  <a:pt x="974436" y="528012"/>
                  <a:pt x="979054" y="831273"/>
                </a:cubicBezTo>
                <a:cubicBezTo>
                  <a:pt x="983672" y="1134534"/>
                  <a:pt x="505690" y="1477049"/>
                  <a:pt x="27709" y="181956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9550687" y="4537167"/>
            <a:ext cx="233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내용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예시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12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607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latin typeface="맑은 고딕" panose="020B0503020000020004" pitchFamily="50" charset="-127"/>
              </a:rPr>
              <a:t>○근로자 의견조회 등록 </a:t>
            </a:r>
            <a:r>
              <a:rPr lang="ko-KR" altLang="en-US" dirty="0" err="1" smtClean="0">
                <a:latin typeface="맑은 고딕" panose="020B0503020000020004" pitchFamily="50" charset="-127"/>
              </a:rPr>
              <a:t>클릭시</a:t>
            </a:r>
            <a:r>
              <a:rPr lang="ko-KR" altLang="en-US" dirty="0" smtClean="0">
                <a:latin typeface="맑은 고딕" panose="020B0503020000020004" pitchFamily="50" charset="-127"/>
              </a:rPr>
              <a:t> 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143"/>
            <a:ext cx="5960287" cy="3508306"/>
          </a:xfrm>
          <a:prstGeom prst="rect">
            <a:avLst/>
          </a:prstGeom>
        </p:spPr>
      </p:pic>
      <p:sp>
        <p:nvSpPr>
          <p:cNvPr id="12" name="사각형 설명선 11"/>
          <p:cNvSpPr/>
          <p:nvPr/>
        </p:nvSpPr>
        <p:spPr>
          <a:xfrm>
            <a:off x="2694218" y="1328497"/>
            <a:ext cx="2935224" cy="804672"/>
          </a:xfrm>
          <a:prstGeom prst="wedgeRectCallout">
            <a:avLst>
              <a:gd name="adj1" fmla="val 3202"/>
              <a:gd name="adj2" fmla="val 30170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동의서 내용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Panocean </a:t>
            </a:r>
            <a:r>
              <a:rPr lang="ko-KR" altLang="en-US" dirty="0" smtClean="0">
                <a:solidFill>
                  <a:schemeClr val="tx1"/>
                </a:solidFill>
              </a:rPr>
              <a:t>홈페이지 참조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1" y="1572029"/>
            <a:ext cx="5715381" cy="5088533"/>
          </a:xfrm>
          <a:prstGeom prst="rect">
            <a:avLst/>
          </a:prstGeom>
        </p:spPr>
      </p:pic>
      <p:sp>
        <p:nvSpPr>
          <p:cNvPr id="26" name="사각형 설명선 25"/>
          <p:cNvSpPr/>
          <p:nvPr/>
        </p:nvSpPr>
        <p:spPr>
          <a:xfrm>
            <a:off x="8991386" y="960197"/>
            <a:ext cx="2935224" cy="804672"/>
          </a:xfrm>
          <a:prstGeom prst="wedgeRectCallout">
            <a:avLst>
              <a:gd name="adj1" fmla="val -49446"/>
              <a:gd name="adj2" fmla="val 8579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구분</a:t>
            </a:r>
            <a:r>
              <a:rPr lang="en-US" altLang="ko-KR" dirty="0" smtClean="0">
                <a:solidFill>
                  <a:schemeClr val="tx1"/>
                </a:solidFill>
              </a:rPr>
              <a:t>: </a:t>
            </a:r>
            <a:r>
              <a:rPr lang="ko-KR" altLang="en-US" dirty="0" err="1" smtClean="0">
                <a:solidFill>
                  <a:schemeClr val="tx1"/>
                </a:solidFill>
              </a:rPr>
              <a:t>아차사고</a:t>
            </a:r>
            <a:r>
              <a:rPr lang="en-US" altLang="ko-KR" dirty="0" smtClean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산업재해조사표</a:t>
            </a:r>
            <a:r>
              <a:rPr lang="en-US" altLang="ko-KR" dirty="0" smtClean="0">
                <a:solidFill>
                  <a:schemeClr val="tx1"/>
                </a:solidFill>
              </a:rPr>
              <a:t>/</a:t>
            </a:r>
            <a:r>
              <a:rPr lang="ko-KR" altLang="en-US" dirty="0" err="1" smtClean="0">
                <a:solidFill>
                  <a:schemeClr val="tx1"/>
                </a:solidFill>
              </a:rPr>
              <a:t>일반문의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smtClean="0"/>
              <a:t>협력업체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(7/7)</a:t>
            </a:r>
            <a:endParaRPr lang="ko-KR" altLang="en-US" dirty="0"/>
          </a:p>
        </p:txBody>
      </p:sp>
      <p:sp>
        <p:nvSpPr>
          <p:cNvPr id="11" name="사각형 설명선 10"/>
          <p:cNvSpPr/>
          <p:nvPr/>
        </p:nvSpPr>
        <p:spPr>
          <a:xfrm>
            <a:off x="6291562" y="6145560"/>
            <a:ext cx="1988224" cy="421580"/>
          </a:xfrm>
          <a:prstGeom prst="wedgeRectCallout">
            <a:avLst>
              <a:gd name="adj1" fmla="val 64121"/>
              <a:gd name="adj2" fmla="val 2443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등록완료시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팀메일</a:t>
            </a:r>
            <a:r>
              <a:rPr lang="ko-KR" altLang="en-US" sz="1200" dirty="0" smtClean="0">
                <a:solidFill>
                  <a:schemeClr val="tx1"/>
                </a:solidFill>
              </a:rPr>
              <a:t> 발송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13" name="사각형 설명선 12"/>
          <p:cNvSpPr/>
          <p:nvPr/>
        </p:nvSpPr>
        <p:spPr>
          <a:xfrm>
            <a:off x="3367144" y="6130277"/>
            <a:ext cx="2262298" cy="421580"/>
          </a:xfrm>
          <a:prstGeom prst="wedgeRectCallout">
            <a:avLst>
              <a:gd name="adj1" fmla="val 64121"/>
              <a:gd name="adj2" fmla="val 2443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이 모든 기록 데이터화 가능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48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3158893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협력업체 안전보건 절차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144CC27-721E-468A-A312-9491EBDFD558}"/>
              </a:ext>
            </a:extLst>
          </p:cNvPr>
          <p:cNvCxnSpPr/>
          <p:nvPr/>
        </p:nvCxnSpPr>
        <p:spPr>
          <a:xfrm>
            <a:off x="6096000" y="960197"/>
            <a:ext cx="0" cy="5478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000000-0008-0000-0500-000003000000}"/>
              </a:ext>
            </a:extLst>
          </p:cNvPr>
          <p:cNvSpPr/>
          <p:nvPr/>
        </p:nvSpPr>
        <p:spPr>
          <a:xfrm>
            <a:off x="9759292" y="1211440"/>
            <a:ext cx="1620000" cy="5657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업체선정 후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SpPr/>
          <p:nvPr/>
        </p:nvSpPr>
        <p:spPr>
          <a:xfrm>
            <a:off x="6391132" y="3809800"/>
            <a:ext cx="356381" cy="130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EF896C82-9940-4FEC-9512-C66642B48DB1}"/>
              </a:ext>
            </a:extLst>
          </p:cNvPr>
          <p:cNvSpPr/>
          <p:nvPr/>
        </p:nvSpPr>
        <p:spPr>
          <a:xfrm>
            <a:off x="6919481" y="1211440"/>
            <a:ext cx="1620000" cy="5657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도급계약 기획</a:t>
            </a:r>
          </a:p>
        </p:txBody>
      </p:sp>
      <p:sp>
        <p:nvSpPr>
          <p:cNvPr id="14" name="사각형: 둥근 모서리 4">
            <a:extLst>
              <a:ext uri="{FF2B5EF4-FFF2-40B4-BE49-F238E27FC236}">
                <a16:creationId xmlns:a16="http://schemas.microsoft.com/office/drawing/2014/main" id="{19861E61-4ECA-47AE-B6CF-AB1C9B308A8D}"/>
              </a:ext>
            </a:extLst>
          </p:cNvPr>
          <p:cNvSpPr/>
          <p:nvPr/>
        </p:nvSpPr>
        <p:spPr>
          <a:xfrm>
            <a:off x="6514956" y="1880580"/>
            <a:ext cx="2533475" cy="1558953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</a:rPr>
              <a:t>① 안전보건 평가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>
                <a:solidFill>
                  <a:schemeClr val="tx1"/>
                </a:solidFill>
              </a:rPr>
              <a:t>(</a:t>
            </a:r>
            <a:r>
              <a:rPr lang="ko-KR" altLang="en-US" sz="1300" dirty="0">
                <a:solidFill>
                  <a:schemeClr val="tx1"/>
                </a:solidFill>
              </a:rPr>
              <a:t>계약담당팀 시행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② 위험성 평가 자료 요청</a:t>
            </a:r>
          </a:p>
        </p:txBody>
      </p:sp>
      <p:sp>
        <p:nvSpPr>
          <p:cNvPr id="15" name="사각형: 둥근 모서리 16">
            <a:extLst>
              <a:ext uri="{FF2B5EF4-FFF2-40B4-BE49-F238E27FC236}">
                <a16:creationId xmlns:a16="http://schemas.microsoft.com/office/drawing/2014/main" id="{A193E411-BD83-4D06-98C1-5645DCFAFE74}"/>
              </a:ext>
            </a:extLst>
          </p:cNvPr>
          <p:cNvSpPr/>
          <p:nvPr/>
        </p:nvSpPr>
        <p:spPr>
          <a:xfrm>
            <a:off x="9389810" y="1882283"/>
            <a:ext cx="2533475" cy="1558954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rgbClr val="FF0000"/>
                </a:solidFill>
              </a:rPr>
              <a:t>① 안전보건 </a:t>
            </a:r>
            <a:r>
              <a:rPr lang="en-US" altLang="ko-KR" sz="1400" dirty="0">
                <a:solidFill>
                  <a:srgbClr val="FF0000"/>
                </a:solidFill>
              </a:rPr>
              <a:t>PORTAL </a:t>
            </a:r>
            <a:r>
              <a:rPr lang="ko-KR" altLang="en-US" sz="1400" dirty="0">
                <a:solidFill>
                  <a:srgbClr val="FF0000"/>
                </a:solidFill>
              </a:rPr>
              <a:t>가입</a:t>
            </a:r>
            <a:endParaRPr lang="en-US" altLang="ko-KR" sz="1400" dirty="0">
              <a:solidFill>
                <a:srgbClr val="FF0000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② 안전서약서 작성요청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>
                <a:solidFill>
                  <a:schemeClr val="tx1"/>
                </a:solidFill>
              </a:rPr>
              <a:t>(</a:t>
            </a:r>
            <a:r>
              <a:rPr lang="ko-KR" altLang="en-US" sz="1300" dirty="0">
                <a:solidFill>
                  <a:schemeClr val="tx1"/>
                </a:solidFill>
              </a:rPr>
              <a:t>업체 작성 후 제출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③</a:t>
            </a:r>
            <a:r>
              <a:rPr lang="ko-KR" altLang="en-US" sz="1400" dirty="0">
                <a:solidFill>
                  <a:schemeClr val="tx1"/>
                </a:solidFill>
              </a:rPr>
              <a:t> 안전수칙 </a:t>
            </a:r>
            <a:r>
              <a:rPr lang="ko-KR" altLang="en-US" sz="1400" dirty="0" smtClean="0">
                <a:solidFill>
                  <a:schemeClr val="tx1"/>
                </a:solidFill>
              </a:rPr>
              <a:t>제공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endParaRPr lang="en-US" altLang="ko-KR" sz="1400" dirty="0" smtClean="0">
              <a:solidFill>
                <a:schemeClr val="tx1"/>
              </a:solidFill>
            </a:endParaRPr>
          </a:p>
          <a:p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endParaRPr lang="ko-KR" altLang="en-US" sz="1400" dirty="0">
              <a:solidFill>
                <a:schemeClr val="tx1"/>
              </a:solidFill>
            </a:endParaRPr>
          </a:p>
          <a:p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8">
            <a:extLst>
              <a:ext uri="{FF2B5EF4-FFF2-40B4-BE49-F238E27FC236}">
                <a16:creationId xmlns:a16="http://schemas.microsoft.com/office/drawing/2014/main" id="{00000000-0008-0000-0500-000005000000}"/>
              </a:ext>
            </a:extLst>
          </p:cNvPr>
          <p:cNvSpPr/>
          <p:nvPr/>
        </p:nvSpPr>
        <p:spPr>
          <a:xfrm>
            <a:off x="6919481" y="3583162"/>
            <a:ext cx="1620000" cy="5657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>
                <a:solidFill>
                  <a:sysClr val="windowText" lastClr="000000"/>
                </a:solidFill>
              </a:rPr>
              <a:t>업무 진행</a:t>
            </a:r>
          </a:p>
        </p:txBody>
      </p:sp>
      <p:sp>
        <p:nvSpPr>
          <p:cNvPr id="19" name="사각형: 둥근 모서리 9">
            <a:extLst>
              <a:ext uri="{FF2B5EF4-FFF2-40B4-BE49-F238E27FC236}">
                <a16:creationId xmlns:a16="http://schemas.microsoft.com/office/drawing/2014/main" id="{00000000-0008-0000-0500-000006000000}"/>
              </a:ext>
            </a:extLst>
          </p:cNvPr>
          <p:cNvSpPr/>
          <p:nvPr/>
        </p:nvSpPr>
        <p:spPr>
          <a:xfrm>
            <a:off x="9769501" y="3583163"/>
            <a:ext cx="1620000" cy="5657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업무종료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재계약</a:t>
            </a:r>
          </a:p>
        </p:txBody>
      </p:sp>
      <p:sp>
        <p:nvSpPr>
          <p:cNvPr id="22" name="사각형: 둥근 모서리 17">
            <a:extLst>
              <a:ext uri="{FF2B5EF4-FFF2-40B4-BE49-F238E27FC236}">
                <a16:creationId xmlns:a16="http://schemas.microsoft.com/office/drawing/2014/main" id="{142090AC-903A-4F47-8E53-5BEFCB8D7FA1}"/>
              </a:ext>
            </a:extLst>
          </p:cNvPr>
          <p:cNvSpPr/>
          <p:nvPr/>
        </p:nvSpPr>
        <p:spPr>
          <a:xfrm>
            <a:off x="6408352" y="4292578"/>
            <a:ext cx="2669106" cy="1965005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</a:rPr>
              <a:t>① 안전보건 평가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 smtClean="0">
                <a:solidFill>
                  <a:schemeClr val="tx1"/>
                </a:solidFill>
              </a:rPr>
              <a:t>(</a:t>
            </a:r>
            <a:r>
              <a:rPr lang="ko-KR" altLang="en-US" sz="1300" dirty="0" err="1" smtClean="0">
                <a:solidFill>
                  <a:schemeClr val="tx1"/>
                </a:solidFill>
              </a:rPr>
              <a:t>반기평가</a:t>
            </a:r>
            <a:r>
              <a:rPr lang="en-US" altLang="ko-KR" sz="1300" dirty="0" smtClean="0">
                <a:solidFill>
                  <a:schemeClr val="tx1"/>
                </a:solidFill>
              </a:rPr>
              <a:t>)</a:t>
            </a:r>
          </a:p>
          <a:p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② </a:t>
            </a:r>
            <a:r>
              <a:rPr lang="ko-KR" altLang="en-US" sz="1400" dirty="0">
                <a:solidFill>
                  <a:schemeClr val="tx1"/>
                </a:solidFill>
              </a:rPr>
              <a:t>협력업체 안전점검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>
                <a:solidFill>
                  <a:schemeClr val="tx1"/>
                </a:solidFill>
              </a:rPr>
              <a:t>(</a:t>
            </a:r>
            <a:r>
              <a:rPr lang="ko-KR" altLang="en-US" sz="1300" dirty="0">
                <a:solidFill>
                  <a:schemeClr val="tx1"/>
                </a:solidFill>
              </a:rPr>
              <a:t>당사 사업장에서 업무 시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③</a:t>
            </a:r>
            <a:r>
              <a:rPr lang="ko-KR" altLang="en-US" sz="1400" dirty="0">
                <a:solidFill>
                  <a:schemeClr val="tx1"/>
                </a:solidFill>
              </a:rPr>
              <a:t> 도급협의체 운영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en-US" altLang="ko-KR" sz="1300" dirty="0">
                <a:solidFill>
                  <a:schemeClr val="tx1"/>
                </a:solidFill>
              </a:rPr>
              <a:t>(</a:t>
            </a:r>
            <a:r>
              <a:rPr lang="ko-KR" altLang="en-US" sz="1300" dirty="0">
                <a:solidFill>
                  <a:schemeClr val="tx1"/>
                </a:solidFill>
              </a:rPr>
              <a:t>당사 사업장에서 업무 시</a:t>
            </a:r>
            <a:r>
              <a:rPr lang="en-US" altLang="ko-KR" sz="1300" dirty="0">
                <a:solidFill>
                  <a:schemeClr val="tx1"/>
                </a:solidFill>
              </a:rPr>
              <a:t>)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18">
            <a:extLst>
              <a:ext uri="{FF2B5EF4-FFF2-40B4-BE49-F238E27FC236}">
                <a16:creationId xmlns:a16="http://schemas.microsoft.com/office/drawing/2014/main" id="{2EFB1932-E1D4-4420-8AAF-39A6503AC95F}"/>
              </a:ext>
            </a:extLst>
          </p:cNvPr>
          <p:cNvSpPr/>
          <p:nvPr/>
        </p:nvSpPr>
        <p:spPr>
          <a:xfrm>
            <a:off x="9389809" y="4292579"/>
            <a:ext cx="2533475" cy="1965004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 smtClean="0">
                <a:solidFill>
                  <a:schemeClr val="tx1"/>
                </a:solidFill>
              </a:rPr>
              <a:t>① </a:t>
            </a:r>
            <a:r>
              <a:rPr lang="ko-KR" altLang="en-US" sz="1400" dirty="0">
                <a:solidFill>
                  <a:schemeClr val="tx1"/>
                </a:solidFill>
              </a:rPr>
              <a:t>재계약시 평가 결과 등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</a:t>
            </a:r>
            <a:r>
              <a:rPr lang="ko-KR" altLang="en-US" sz="1400" dirty="0">
                <a:solidFill>
                  <a:schemeClr val="tx1"/>
                </a:solidFill>
              </a:rPr>
              <a:t>반영하여 진행</a:t>
            </a:r>
          </a:p>
        </p:txBody>
      </p:sp>
      <p:sp>
        <p:nvSpPr>
          <p:cNvPr id="25" name="화살표: 오른쪽 7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SpPr/>
          <p:nvPr/>
        </p:nvSpPr>
        <p:spPr>
          <a:xfrm>
            <a:off x="8935657" y="1473030"/>
            <a:ext cx="356381" cy="130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26" name="화살표: 오른쪽 7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SpPr/>
          <p:nvPr/>
        </p:nvSpPr>
        <p:spPr>
          <a:xfrm>
            <a:off x="8977898" y="3809800"/>
            <a:ext cx="356381" cy="1302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pic>
        <p:nvPicPr>
          <p:cNvPr id="2052" name="Picture 4" descr="Original Table Mockup - Final Version"/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" b="2755"/>
          <a:stretch/>
        </p:blipFill>
        <p:spPr bwMode="auto">
          <a:xfrm>
            <a:off x="661367" y="1297651"/>
            <a:ext cx="4656638" cy="547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직선 연결선 26"/>
          <p:cNvCxnSpPr/>
          <p:nvPr/>
        </p:nvCxnSpPr>
        <p:spPr>
          <a:xfrm>
            <a:off x="1661888" y="4810760"/>
            <a:ext cx="1174" cy="90488"/>
          </a:xfrm>
          <a:prstGeom prst="line">
            <a:avLst/>
          </a:prstGeom>
          <a:ln w="12700">
            <a:solidFill>
              <a:srgbClr val="627F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err="1" smtClean="0"/>
              <a:t>계약부서</a:t>
            </a:r>
            <a:r>
              <a:rPr lang="ko-KR" altLang="en-US" sz="2800" b="1" dirty="0" smtClean="0"/>
              <a:t>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(1/3)</a:t>
            </a:r>
            <a:endParaRPr lang="ko-KR" altLang="en-US" dirty="0"/>
          </a:p>
        </p:txBody>
      </p:sp>
      <p:sp>
        <p:nvSpPr>
          <p:cNvPr id="20" name="사각형 설명선 19"/>
          <p:cNvSpPr/>
          <p:nvPr/>
        </p:nvSpPr>
        <p:spPr>
          <a:xfrm>
            <a:off x="8610600" y="-98318"/>
            <a:ext cx="2935224" cy="804672"/>
          </a:xfrm>
          <a:prstGeom prst="wedgeRectCallout">
            <a:avLst>
              <a:gd name="adj1" fmla="val -25257"/>
              <a:gd name="adj2" fmla="val 8044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이 과정에서 어디까지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어떻게 결재 받을 건지</a:t>
            </a:r>
            <a:r>
              <a:rPr lang="en-US" altLang="ko-KR" dirty="0" smtClea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9" name="사각형 설명선 28"/>
          <p:cNvSpPr/>
          <p:nvPr/>
        </p:nvSpPr>
        <p:spPr>
          <a:xfrm>
            <a:off x="6391132" y="129131"/>
            <a:ext cx="1975514" cy="594496"/>
          </a:xfrm>
          <a:prstGeom prst="wedgeRectCallout">
            <a:avLst>
              <a:gd name="adj1" fmla="val 21612"/>
              <a:gd name="adj2" fmla="val 6433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사용부서</a:t>
            </a:r>
            <a:r>
              <a:rPr lang="ko-KR" altLang="en-US" sz="1200" dirty="0" smtClean="0">
                <a:solidFill>
                  <a:schemeClr val="tx1"/>
                </a:solidFill>
              </a:rPr>
              <a:t> 안전보건 절차</a:t>
            </a:r>
            <a:r>
              <a:rPr lang="en-US" altLang="ko-KR" sz="1200" dirty="0" smtClean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10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협력업체 안전보건 평가 안내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4B28B8-9A51-427C-B66E-BBFC8759A8DD}"/>
              </a:ext>
            </a:extLst>
          </p:cNvPr>
          <p:cNvSpPr/>
          <p:nvPr/>
        </p:nvSpPr>
        <p:spPr>
          <a:xfrm>
            <a:off x="458158" y="1328497"/>
            <a:ext cx="43655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평가 항목</a:t>
            </a:r>
            <a:endParaRPr lang="ko-KR" altLang="en-US" sz="1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BBD819-3CC4-47C5-8EA4-129722177D41}"/>
              </a:ext>
            </a:extLst>
          </p:cNvPr>
          <p:cNvSpPr/>
          <p:nvPr/>
        </p:nvSpPr>
        <p:spPr>
          <a:xfrm>
            <a:off x="631971" y="1625106"/>
            <a:ext cx="5265490" cy="4292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1600" dirty="0"/>
              <a:t>  ① 안전보건 방침 적절성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② 산업재해예방 활동에 대한 계획의 적절성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③ 이행계획 추진을 위한 구성원 역할 분담 사항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④ 도급업무 위험성평가 결과에 대한 이해</a:t>
            </a:r>
            <a:r>
              <a:rPr lang="en-US" altLang="ko-KR" sz="1600" dirty="0"/>
              <a:t>/</a:t>
            </a:r>
            <a:r>
              <a:rPr lang="ko-KR" altLang="en-US" sz="1600" dirty="0"/>
              <a:t>평가 수준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⑤ 안전점검 및 모니터링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⑥ 작업인력 및 장비 적절성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⑦ 안전조치 이행 여부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A5163B-B83F-4659-84C0-DE86730ED1C0}"/>
              </a:ext>
            </a:extLst>
          </p:cNvPr>
          <p:cNvSpPr/>
          <p:nvPr/>
        </p:nvSpPr>
        <p:spPr>
          <a:xfrm>
            <a:off x="6386825" y="1625106"/>
            <a:ext cx="5265490" cy="4292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1600" dirty="0"/>
              <a:t>  ⑧ 안전보건교육 계획 및 이행 기록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⑨ 안전작업 허가 관련 사항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⑩ 도급</a:t>
            </a:r>
            <a:r>
              <a:rPr lang="en-US" altLang="ko-KR" sz="1600" dirty="0"/>
              <a:t>-</a:t>
            </a:r>
            <a:r>
              <a:rPr lang="ko-KR" altLang="en-US" sz="1600" dirty="0"/>
              <a:t>수급인 간 연락체계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⑪ 유해</a:t>
            </a:r>
            <a:r>
              <a:rPr lang="en-US" altLang="ko-KR" sz="1600" dirty="0"/>
              <a:t>/</a:t>
            </a:r>
            <a:r>
              <a:rPr lang="ko-KR" altLang="en-US" sz="1600" dirty="0"/>
              <a:t>위험물질 및 취급 안전성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⑫ 자연재해 대비책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⑬ 비상시 대피 및 피해 최소화 대책</a:t>
            </a:r>
          </a:p>
          <a:p>
            <a:pPr>
              <a:lnSpc>
                <a:spcPct val="250000"/>
              </a:lnSpc>
            </a:pPr>
            <a:r>
              <a:rPr lang="ko-KR" altLang="en-US" sz="1600" dirty="0"/>
              <a:t>  ⑭ 산업재해 발생 현황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9AEE593-F167-49D0-A486-2A1CCB7CD5A1}"/>
              </a:ext>
            </a:extLst>
          </p:cNvPr>
          <p:cNvCxnSpPr/>
          <p:nvPr/>
        </p:nvCxnSpPr>
        <p:spPr>
          <a:xfrm>
            <a:off x="5972962" y="1702406"/>
            <a:ext cx="0" cy="504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err="1" smtClean="0"/>
              <a:t>계약부서</a:t>
            </a:r>
            <a:r>
              <a:rPr lang="ko-KR" altLang="en-US" sz="2800" b="1" dirty="0" smtClean="0"/>
              <a:t>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003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계약부서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업체평가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및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반기평가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0000000-0008-0000-0400-00001A000000}"/>
              </a:ext>
            </a:extLst>
          </p:cNvPr>
          <p:cNvSpPr/>
          <p:nvPr/>
        </p:nvSpPr>
        <p:spPr>
          <a:xfrm>
            <a:off x="124901" y="2839558"/>
            <a:ext cx="640080" cy="3429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0000000-0008-0000-0400-00001C000000}"/>
              </a:ext>
            </a:extLst>
          </p:cNvPr>
          <p:cNvCxnSpPr>
            <a:cxnSpLocks/>
            <a:stCxn id="26" idx="6"/>
          </p:cNvCxnSpPr>
          <p:nvPr/>
        </p:nvCxnSpPr>
        <p:spPr>
          <a:xfrm flipV="1">
            <a:off x="764981" y="2566602"/>
            <a:ext cx="6330410" cy="4444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08738" y="1797042"/>
            <a:ext cx="211016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28" name="TextBox 27"/>
          <p:cNvSpPr txBox="1"/>
          <p:nvPr/>
        </p:nvSpPr>
        <p:spPr>
          <a:xfrm>
            <a:off x="4248727" y="1785649"/>
            <a:ext cx="211016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19</a:t>
            </a:fld>
            <a:endParaRPr lang="ko-KR" altLang="en-US"/>
          </a:p>
        </p:txBody>
      </p:sp>
      <p:grpSp>
        <p:nvGrpSpPr>
          <p:cNvPr id="46" name="그룹 45"/>
          <p:cNvGrpSpPr/>
          <p:nvPr/>
        </p:nvGrpSpPr>
        <p:grpSpPr>
          <a:xfrm>
            <a:off x="3669940" y="1144863"/>
            <a:ext cx="8255976" cy="5510079"/>
            <a:chOff x="3498899" y="1110149"/>
            <a:chExt cx="8255976" cy="5510079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0000000-0008-0000-0400-00000B000000}"/>
                </a:ext>
              </a:extLst>
            </p:cNvPr>
            <p:cNvSpPr/>
            <p:nvPr/>
          </p:nvSpPr>
          <p:spPr>
            <a:xfrm>
              <a:off x="8587780" y="6398513"/>
              <a:ext cx="716190" cy="22171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임시저장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0000000-0008-0000-0400-00000D000000}"/>
                </a:ext>
              </a:extLst>
            </p:cNvPr>
            <p:cNvSpPr/>
            <p:nvPr/>
          </p:nvSpPr>
          <p:spPr>
            <a:xfrm>
              <a:off x="9895249" y="6398512"/>
              <a:ext cx="712380" cy="22171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등록</a:t>
              </a:r>
            </a:p>
          </p:txBody>
        </p: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5335" y="1110149"/>
              <a:ext cx="4579540" cy="5235908"/>
            </a:xfrm>
            <a:prstGeom prst="rect">
              <a:avLst/>
            </a:prstGeom>
          </p:spPr>
        </p:pic>
        <p:sp>
          <p:nvSpPr>
            <p:cNvPr id="36" name="사각형 설명선 35"/>
            <p:cNvSpPr/>
            <p:nvPr/>
          </p:nvSpPr>
          <p:spPr>
            <a:xfrm>
              <a:off x="3498899" y="1413851"/>
              <a:ext cx="3324621" cy="421580"/>
            </a:xfrm>
            <a:prstGeom prst="wedgeRectCallout">
              <a:avLst>
                <a:gd name="adj1" fmla="val 68004"/>
                <a:gd name="adj2" fmla="val -4191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사업자등록번호 입력 시</a:t>
              </a:r>
              <a:endParaRPr lang="en-US" altLang="ko-KR" sz="1200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 err="1" smtClean="0">
                  <a:solidFill>
                    <a:schemeClr val="tx1"/>
                  </a:solidFill>
                </a:rPr>
                <a:t>업체명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자동 생성 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(SOM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내 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domestic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업체 연동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)</a:t>
              </a: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00000000-0008-0000-0400-0000290000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127" r="4795" b="-1"/>
            <a:stretch/>
          </p:blipFill>
          <p:spPr>
            <a:xfrm>
              <a:off x="11486293" y="1850560"/>
              <a:ext cx="198671" cy="11575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00000000-0008-0000-0400-0000290000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127" r="4795" b="-1"/>
            <a:stretch/>
          </p:blipFill>
          <p:spPr>
            <a:xfrm>
              <a:off x="11490915" y="2058376"/>
              <a:ext cx="198671" cy="115759"/>
            </a:xfrm>
            <a:prstGeom prst="rect">
              <a:avLst/>
            </a:prstGeom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0000000-0008-0000-0400-0000290000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127" r="4795" b="-1"/>
            <a:stretch/>
          </p:blipFill>
          <p:spPr>
            <a:xfrm>
              <a:off x="11486293" y="2266192"/>
              <a:ext cx="198671" cy="115759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00000000-0008-0000-0400-0000290000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127" r="4795" b="-1"/>
            <a:stretch/>
          </p:blipFill>
          <p:spPr>
            <a:xfrm>
              <a:off x="11490915" y="2474008"/>
              <a:ext cx="198671" cy="115759"/>
            </a:xfrm>
            <a:prstGeom prst="rect">
              <a:avLst/>
            </a:prstGeom>
          </p:spPr>
        </p:pic>
        <p:sp>
          <p:nvSpPr>
            <p:cNvPr id="44" name="사각형 설명선 43"/>
            <p:cNvSpPr/>
            <p:nvPr/>
          </p:nvSpPr>
          <p:spPr>
            <a:xfrm>
              <a:off x="9150849" y="3876645"/>
              <a:ext cx="2519712" cy="621463"/>
            </a:xfrm>
            <a:prstGeom prst="wedgeRectCallout">
              <a:avLst>
                <a:gd name="adj1" fmla="val 52779"/>
                <a:gd name="adj2" fmla="val -251489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 algn="ctr">
                <a:buAutoNum type="arabicPeriod"/>
              </a:pPr>
              <a:r>
                <a:rPr lang="ko-KR" altLang="en-US" sz="1200" dirty="0" smtClean="0">
                  <a:solidFill>
                    <a:schemeClr val="tx1"/>
                  </a:solidFill>
                </a:rPr>
                <a:t>일일이 첨부 또는</a:t>
              </a:r>
              <a:r>
                <a:rPr lang="en-US" altLang="ko-KR" sz="1200" dirty="0">
                  <a:solidFill>
                    <a:schemeClr val="tx1"/>
                  </a:solidFill>
                </a:rPr>
                <a:t> 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/>
              </a:r>
              <a:br>
                <a:rPr lang="en-US" altLang="ko-KR" sz="1200" dirty="0" smtClean="0">
                  <a:solidFill>
                    <a:schemeClr val="tx1"/>
                  </a:solidFill>
                </a:rPr>
              </a:br>
              <a:r>
                <a:rPr lang="ko-KR" altLang="en-US" sz="1200" dirty="0" smtClean="0">
                  <a:solidFill>
                    <a:schemeClr val="tx1"/>
                  </a:solidFill>
                </a:rPr>
                <a:t>한번에 첨부하도록 할건지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?</a:t>
              </a:r>
            </a:p>
            <a:p>
              <a:pPr marL="228600" indent="-228600" algn="ctr">
                <a:buAutoNum type="arabicPeriod"/>
              </a:pPr>
              <a:r>
                <a:rPr lang="ko-KR" altLang="en-US" sz="1200" dirty="0" err="1" smtClean="0">
                  <a:solidFill>
                    <a:schemeClr val="tx1"/>
                  </a:solidFill>
                </a:rPr>
                <a:t>자료없음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200" dirty="0" err="1" smtClean="0">
                  <a:solidFill>
                    <a:schemeClr val="tx1"/>
                  </a:solidFill>
                </a:rPr>
                <a:t>체크란도</a:t>
              </a:r>
              <a:r>
                <a:rPr lang="ko-KR" altLang="en-US" sz="1200" dirty="0" smtClean="0">
                  <a:solidFill>
                    <a:schemeClr val="tx1"/>
                  </a:solidFill>
                </a:rPr>
                <a:t> 만들 예정</a:t>
              </a:r>
              <a:endParaRPr lang="en-US" altLang="ko-KR" sz="1200" dirty="0" smtClean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781902"/>
              </p:ext>
            </p:extLst>
          </p:nvPr>
        </p:nvGraphicFramePr>
        <p:xfrm>
          <a:off x="124901" y="3263596"/>
          <a:ext cx="7090079" cy="1525106"/>
        </p:xfrm>
        <a:graphic>
          <a:graphicData uri="http://schemas.openxmlformats.org/drawingml/2006/table">
            <a:tbl>
              <a:tblPr/>
              <a:tblGrid>
                <a:gridCol w="216000">
                  <a:extLst>
                    <a:ext uri="{9D8B030D-6E8A-4147-A177-3AD203B41FA5}">
                      <a16:colId xmlns:a16="http://schemas.microsoft.com/office/drawing/2014/main" val="839735578"/>
                    </a:ext>
                  </a:extLst>
                </a:gridCol>
                <a:gridCol w="1066951">
                  <a:extLst>
                    <a:ext uri="{9D8B030D-6E8A-4147-A177-3AD203B41FA5}">
                      <a16:colId xmlns:a16="http://schemas.microsoft.com/office/drawing/2014/main" val="245676650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756390859"/>
                    </a:ext>
                  </a:extLst>
                </a:gridCol>
                <a:gridCol w="1100810">
                  <a:extLst>
                    <a:ext uri="{9D8B030D-6E8A-4147-A177-3AD203B41FA5}">
                      <a16:colId xmlns:a16="http://schemas.microsoft.com/office/drawing/2014/main" val="2676052597"/>
                    </a:ext>
                  </a:extLst>
                </a:gridCol>
                <a:gridCol w="735685">
                  <a:extLst>
                    <a:ext uri="{9D8B030D-6E8A-4147-A177-3AD203B41FA5}">
                      <a16:colId xmlns:a16="http://schemas.microsoft.com/office/drawing/2014/main" val="1688807702"/>
                    </a:ext>
                  </a:extLst>
                </a:gridCol>
                <a:gridCol w="707110">
                  <a:extLst>
                    <a:ext uri="{9D8B030D-6E8A-4147-A177-3AD203B41FA5}">
                      <a16:colId xmlns:a16="http://schemas.microsoft.com/office/drawing/2014/main" val="1465187609"/>
                    </a:ext>
                  </a:extLst>
                </a:gridCol>
                <a:gridCol w="746798">
                  <a:extLst>
                    <a:ext uri="{9D8B030D-6E8A-4147-A177-3AD203B41FA5}">
                      <a16:colId xmlns:a16="http://schemas.microsoft.com/office/drawing/2014/main" val="1983123724"/>
                    </a:ext>
                  </a:extLst>
                </a:gridCol>
                <a:gridCol w="681234">
                  <a:extLst>
                    <a:ext uri="{9D8B030D-6E8A-4147-A177-3AD203B41FA5}">
                      <a16:colId xmlns:a16="http://schemas.microsoft.com/office/drawing/2014/main" val="2899060352"/>
                    </a:ext>
                  </a:extLst>
                </a:gridCol>
                <a:gridCol w="683491">
                  <a:extLst>
                    <a:ext uri="{9D8B030D-6E8A-4147-A177-3AD203B41FA5}">
                      <a16:colId xmlns:a16="http://schemas.microsoft.com/office/drawing/2014/main" val="42356258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260332767"/>
                    </a:ext>
                  </a:extLst>
                </a:gridCol>
              </a:tblGrid>
              <a:tr h="3130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effectLst/>
                        </a:rPr>
                        <a:t>No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>
                          <a:effectLst/>
                        </a:rPr>
                        <a:t>평가 연도</a:t>
                      </a:r>
                      <a:r>
                        <a:rPr lang="en-US" altLang="ko-KR" sz="1000" b="1" dirty="0">
                          <a:effectLst/>
                        </a:rPr>
                        <a:t>/</a:t>
                      </a:r>
                      <a:r>
                        <a:rPr lang="ko-KR" altLang="en-US" sz="1000" b="1" dirty="0">
                          <a:effectLst/>
                        </a:rPr>
                        <a:t>반기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 err="1">
                          <a:effectLst/>
                        </a:rPr>
                        <a:t>업체명</a:t>
                      </a:r>
                      <a:endParaRPr lang="ko-KR" altLang="en-US" sz="1000" b="1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>
                          <a:effectLst/>
                        </a:rPr>
                        <a:t>사업자등록번호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effectLst/>
                        </a:rPr>
                        <a:t>평가일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effectLst/>
                        </a:rPr>
                        <a:t>총점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effectLst/>
                        </a:rPr>
                        <a:t>점검결과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effectLst/>
                        </a:rPr>
                        <a:t>첨부파일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 smtClean="0">
                          <a:effectLst/>
                        </a:rPr>
                        <a:t>상태</a:t>
                      </a:r>
                      <a:endParaRPr lang="en-US" altLang="ko-KR" sz="1000" b="1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 smtClean="0">
                          <a:effectLst/>
                        </a:rPr>
                        <a:t>검토자</a:t>
                      </a:r>
                      <a:endParaRPr lang="ko-KR" altLang="en-US" sz="1000" b="1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196955"/>
                  </a:ext>
                </a:extLst>
              </a:tr>
              <a:tr h="3971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>
                          <a:effectLst/>
                        </a:rPr>
                        <a:t>1</a:t>
                      </a:r>
                      <a:endParaRPr lang="en-US" altLang="ko-KR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effectLst/>
                        </a:rPr>
                        <a:t>2026</a:t>
                      </a:r>
                      <a:r>
                        <a:rPr lang="ko-KR" altLang="en-US" sz="1000" dirty="0">
                          <a:effectLst/>
                        </a:rPr>
                        <a:t>년 상반기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 smtClean="0">
                          <a:effectLst/>
                        </a:rPr>
                        <a:t>OO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effectLst/>
                        </a:rPr>
                        <a:t>123-45-67890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>
                          <a:effectLst/>
                        </a:rPr>
                        <a:t>26-03-08</a:t>
                      </a:r>
                      <a:endParaRPr lang="en-US" altLang="ko-KR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effectLst/>
                        </a:rPr>
                        <a:t>95</a:t>
                      </a:r>
                      <a:r>
                        <a:rPr lang="ko-KR" altLang="en-US" sz="1000" dirty="0">
                          <a:effectLst/>
                        </a:rPr>
                        <a:t> </a:t>
                      </a:r>
                      <a:r>
                        <a:rPr lang="en-US" altLang="ko-KR" sz="1000" dirty="0">
                          <a:effectLst/>
                        </a:rPr>
                        <a:t>/ 110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smtClean="0">
                          <a:effectLst/>
                        </a:rPr>
                        <a:t>적격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</a:rPr>
                        <a:t>📎 </a:t>
                      </a:r>
                      <a:r>
                        <a:rPr lang="en-US" altLang="ko-KR" sz="1000" dirty="0">
                          <a:effectLst/>
                        </a:rPr>
                        <a:t>16</a:t>
                      </a:r>
                      <a:r>
                        <a:rPr lang="ko-KR" altLang="en-US" sz="1000" dirty="0">
                          <a:effectLst/>
                        </a:rPr>
                        <a:t>건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 smtClean="0">
                          <a:effectLst/>
                        </a:rPr>
                        <a:t>작성중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1000" b="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320758"/>
                  </a:ext>
                </a:extLst>
              </a:tr>
              <a:tr h="35098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>
                          <a:effectLst/>
                        </a:rPr>
                        <a:t>2</a:t>
                      </a:r>
                      <a:endParaRPr lang="en-US" altLang="ko-KR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>
                          <a:effectLst/>
                        </a:rPr>
                        <a:t>2026</a:t>
                      </a:r>
                      <a:r>
                        <a:rPr lang="ko-KR" altLang="en-US" sz="1000">
                          <a:effectLst/>
                        </a:rPr>
                        <a:t>년 상반기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 smtClean="0">
                          <a:effectLst/>
                        </a:rPr>
                        <a:t>AA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effectLst/>
                        </a:rPr>
                        <a:t>234-56-78901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>
                          <a:effectLst/>
                        </a:rPr>
                        <a:t>26-03-07</a:t>
                      </a:r>
                      <a:endParaRPr lang="en-US" altLang="ko-KR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effectLst/>
                        </a:rPr>
                        <a:t>82</a:t>
                      </a:r>
                      <a:r>
                        <a:rPr lang="ko-KR" altLang="en-US" sz="1000" dirty="0">
                          <a:effectLst/>
                        </a:rPr>
                        <a:t> </a:t>
                      </a:r>
                      <a:r>
                        <a:rPr lang="en-US" altLang="ko-KR" sz="1000" dirty="0">
                          <a:effectLst/>
                        </a:rPr>
                        <a:t>/ 110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smtClean="0">
                          <a:effectLst/>
                        </a:rPr>
                        <a:t>적격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</a:rPr>
                        <a:t>📎 </a:t>
                      </a:r>
                      <a:r>
                        <a:rPr lang="en-US" altLang="ko-KR" sz="1000" dirty="0">
                          <a:effectLst/>
                        </a:rPr>
                        <a:t>15</a:t>
                      </a:r>
                      <a:r>
                        <a:rPr lang="ko-KR" altLang="en-US" sz="1000" dirty="0">
                          <a:effectLst/>
                        </a:rPr>
                        <a:t>건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 smtClean="0">
                          <a:effectLst/>
                        </a:rPr>
                        <a:t>검토완료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smtClean="0">
                          <a:effectLst/>
                        </a:rPr>
                        <a:t>송영인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68420"/>
                  </a:ext>
                </a:extLst>
              </a:tr>
              <a:tr h="33184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>
                          <a:effectLst/>
                        </a:rPr>
                        <a:t>3</a:t>
                      </a:r>
                      <a:endParaRPr lang="en-US" altLang="ko-KR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>
                          <a:effectLst/>
                        </a:rPr>
                        <a:t>2026</a:t>
                      </a:r>
                      <a:r>
                        <a:rPr lang="ko-KR" altLang="en-US" sz="1000">
                          <a:effectLst/>
                        </a:rPr>
                        <a:t>년 상반기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 smtClean="0">
                          <a:effectLst/>
                        </a:rPr>
                        <a:t>BB</a:t>
                      </a:r>
                      <a:endParaRPr lang="en-US" altLang="ko-KR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>
                          <a:effectLst/>
                        </a:rPr>
                        <a:t>345-67-89012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>
                          <a:effectLst/>
                        </a:rPr>
                        <a:t>26-03-05</a:t>
                      </a:r>
                      <a:endParaRPr lang="en-US" altLang="ko-KR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>
                          <a:effectLst/>
                        </a:rPr>
                        <a:t>65</a:t>
                      </a:r>
                      <a:r>
                        <a:rPr lang="ko-KR" altLang="en-US" sz="1000">
                          <a:effectLst/>
                        </a:rPr>
                        <a:t> </a:t>
                      </a:r>
                      <a:r>
                        <a:rPr lang="en-US" altLang="ko-KR" sz="1000">
                          <a:effectLst/>
                        </a:rPr>
                        <a:t>/ 110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</a:rPr>
                        <a:t>🔴</a:t>
                      </a:r>
                      <a:r>
                        <a:rPr lang="ko-KR" altLang="en-US" sz="1000" dirty="0">
                          <a:effectLst/>
                        </a:rPr>
                        <a:t> 부적격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effectLst/>
                        </a:rPr>
                        <a:t>📎 </a:t>
                      </a:r>
                      <a:r>
                        <a:rPr lang="en-US" altLang="ko-KR" sz="1000" dirty="0">
                          <a:effectLst/>
                        </a:rPr>
                        <a:t>13</a:t>
                      </a:r>
                      <a:r>
                        <a:rPr lang="ko-KR" altLang="en-US" sz="1000" dirty="0">
                          <a:effectLst/>
                        </a:rPr>
                        <a:t>건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smtClean="0">
                          <a:effectLst/>
                        </a:rPr>
                        <a:t>수정메일발송완료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 smtClean="0">
                          <a:effectLst/>
                        </a:rPr>
                        <a:t>김환규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445554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185007" y="2907100"/>
            <a:ext cx="519868" cy="2078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등록</a:t>
            </a:r>
            <a:endParaRPr lang="ko-KR" altLang="en-US" sz="1200" dirty="0"/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284617"/>
              </p:ext>
            </p:extLst>
          </p:nvPr>
        </p:nvGraphicFramePr>
        <p:xfrm>
          <a:off x="4627418" y="2858458"/>
          <a:ext cx="2516243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09">
                  <a:extLst>
                    <a:ext uri="{9D8B030D-6E8A-4147-A177-3AD203B41FA5}">
                      <a16:colId xmlns:a16="http://schemas.microsoft.com/office/drawing/2014/main" val="3123262753"/>
                    </a:ext>
                  </a:extLst>
                </a:gridCol>
                <a:gridCol w="1410971">
                  <a:extLst>
                    <a:ext uri="{9D8B030D-6E8A-4147-A177-3AD203B41FA5}">
                      <a16:colId xmlns:a16="http://schemas.microsoft.com/office/drawing/2014/main" val="1899126676"/>
                    </a:ext>
                  </a:extLst>
                </a:gridCol>
                <a:gridCol w="569563">
                  <a:extLst>
                    <a:ext uri="{9D8B030D-6E8A-4147-A177-3AD203B41FA5}">
                      <a16:colId xmlns:a16="http://schemas.microsoft.com/office/drawing/2014/main" val="269140608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검색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481054"/>
                  </a:ext>
                </a:extLst>
              </a:tr>
            </a:tbl>
          </a:graphicData>
        </a:graphic>
      </p:graphicFrame>
      <p:sp>
        <p:nvSpPr>
          <p:cNvPr id="50" name="이등변 삼각형 49"/>
          <p:cNvSpPr/>
          <p:nvPr/>
        </p:nvSpPr>
        <p:spPr>
          <a:xfrm flipV="1">
            <a:off x="5006109" y="2980082"/>
            <a:ext cx="88381" cy="92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사업장 안전보건</a:t>
            </a:r>
            <a:r>
              <a:rPr lang="en-US" altLang="ko-KR" sz="2800" b="1" dirty="0"/>
              <a:t> </a:t>
            </a:r>
            <a:r>
              <a:rPr lang="en-US" altLang="ko-KR" sz="2800" b="1" dirty="0" smtClean="0"/>
              <a:t>- </a:t>
            </a:r>
            <a:r>
              <a:rPr lang="ko-KR" altLang="en-US" sz="2800" b="1" dirty="0" err="1" smtClean="0"/>
              <a:t>계약부서</a:t>
            </a:r>
            <a:r>
              <a:rPr lang="ko-KR" altLang="en-US" sz="2800" b="1" dirty="0" smtClean="0"/>
              <a:t> 사용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sp>
        <p:nvSpPr>
          <p:cNvPr id="52" name="사각형 설명선 51"/>
          <p:cNvSpPr/>
          <p:nvPr/>
        </p:nvSpPr>
        <p:spPr>
          <a:xfrm>
            <a:off x="272203" y="2018728"/>
            <a:ext cx="1988224" cy="421580"/>
          </a:xfrm>
          <a:prstGeom prst="wedgeRectCallout">
            <a:avLst>
              <a:gd name="adj1" fmla="val -43191"/>
              <a:gd name="adj2" fmla="val 13398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계약부서가</a:t>
            </a:r>
            <a:r>
              <a:rPr lang="ko-KR" altLang="en-US" sz="1200" dirty="0" smtClean="0">
                <a:solidFill>
                  <a:schemeClr val="tx1"/>
                </a:solidFill>
              </a:rPr>
              <a:t> 협력업체 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등록완료시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팀메일</a:t>
            </a:r>
            <a:r>
              <a:rPr lang="ko-KR" altLang="en-US" sz="1200" dirty="0" smtClean="0">
                <a:solidFill>
                  <a:schemeClr val="tx1"/>
                </a:solidFill>
              </a:rPr>
              <a:t> 발송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19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000000-0008-0000-0500-000009000000}"/>
              </a:ext>
            </a:extLst>
          </p:cNvPr>
          <p:cNvSpPr/>
          <p:nvPr/>
        </p:nvSpPr>
        <p:spPr>
          <a:xfrm>
            <a:off x="2809845" y="5838637"/>
            <a:ext cx="1788795" cy="662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b="1">
              <a:solidFill>
                <a:sysClr val="windowText" lastClr="000000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공지사항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(1/1)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6579"/>
              </p:ext>
            </p:extLst>
          </p:nvPr>
        </p:nvGraphicFramePr>
        <p:xfrm>
          <a:off x="902940" y="4110894"/>
          <a:ext cx="7391400" cy="15030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328503778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7220176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1553931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76129804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양식함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00311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7007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44789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위험성평가 양식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6C80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777777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019619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산업재해조사표 양식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6C80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777777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76645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447366"/>
              </p:ext>
            </p:extLst>
          </p:nvPr>
        </p:nvGraphicFramePr>
        <p:xfrm>
          <a:off x="902940" y="1647919"/>
          <a:ext cx="7391400" cy="15030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99679093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27187083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7587315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59278220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11855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55555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55043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Writer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4A5B75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6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5774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i="0" u="none" strike="noStrike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[Notice] </a:t>
                      </a:r>
                      <a:r>
                        <a:rPr lang="ko-KR" altLang="en-US" sz="1100" b="1" i="0" u="none" strike="noStrike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위험성평가 매뉴얼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6C80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777777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675178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📎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1" i="0" u="none" strike="noStrike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[Notice] </a:t>
                      </a:r>
                      <a:r>
                        <a:rPr lang="ko-KR" altLang="en-US" sz="1100" b="1" i="0" u="none" strike="noStrike">
                          <a:solidFill>
                            <a:srgbClr val="333333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위험성평가 예시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6C80A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777777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02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77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가입신청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List &amp;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업체관리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21</a:t>
            </a:fld>
            <a:endParaRPr lang="ko-KR" altLang="en-US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153742"/>
              </p:ext>
            </p:extLst>
          </p:nvPr>
        </p:nvGraphicFramePr>
        <p:xfrm>
          <a:off x="838200" y="1836582"/>
          <a:ext cx="10515600" cy="3184835"/>
        </p:xfrm>
        <a:graphic>
          <a:graphicData uri="http://schemas.openxmlformats.org/drawingml/2006/table">
            <a:tbl>
              <a:tblPr/>
              <a:tblGrid>
                <a:gridCol w="1001485">
                  <a:extLst>
                    <a:ext uri="{9D8B030D-6E8A-4147-A177-3AD203B41FA5}">
                      <a16:colId xmlns:a16="http://schemas.microsoft.com/office/drawing/2014/main" val="1525353406"/>
                    </a:ext>
                  </a:extLst>
                </a:gridCol>
                <a:gridCol w="867955">
                  <a:extLst>
                    <a:ext uri="{9D8B030D-6E8A-4147-A177-3AD203B41FA5}">
                      <a16:colId xmlns:a16="http://schemas.microsoft.com/office/drawing/2014/main" val="2871456275"/>
                    </a:ext>
                  </a:extLst>
                </a:gridCol>
                <a:gridCol w="876808">
                  <a:extLst>
                    <a:ext uri="{9D8B030D-6E8A-4147-A177-3AD203B41FA5}">
                      <a16:colId xmlns:a16="http://schemas.microsoft.com/office/drawing/2014/main" val="1003186944"/>
                    </a:ext>
                  </a:extLst>
                </a:gridCol>
                <a:gridCol w="1126162">
                  <a:extLst>
                    <a:ext uri="{9D8B030D-6E8A-4147-A177-3AD203B41FA5}">
                      <a16:colId xmlns:a16="http://schemas.microsoft.com/office/drawing/2014/main" val="2660670445"/>
                    </a:ext>
                  </a:extLst>
                </a:gridCol>
                <a:gridCol w="968103">
                  <a:extLst>
                    <a:ext uri="{9D8B030D-6E8A-4147-A177-3AD203B41FA5}">
                      <a16:colId xmlns:a16="http://schemas.microsoft.com/office/drawing/2014/main" val="4271440478"/>
                    </a:ext>
                  </a:extLst>
                </a:gridCol>
                <a:gridCol w="1068252">
                  <a:extLst>
                    <a:ext uri="{9D8B030D-6E8A-4147-A177-3AD203B41FA5}">
                      <a16:colId xmlns:a16="http://schemas.microsoft.com/office/drawing/2014/main" val="647585735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3249953118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663836"/>
                    </a:ext>
                  </a:extLst>
                </a:gridCol>
                <a:gridCol w="867955">
                  <a:extLst>
                    <a:ext uri="{9D8B030D-6E8A-4147-A177-3AD203B41FA5}">
                      <a16:colId xmlns:a16="http://schemas.microsoft.com/office/drawing/2014/main" val="3530245156"/>
                    </a:ext>
                  </a:extLst>
                </a:gridCol>
              </a:tblGrid>
              <a:tr h="20729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신청일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2026-01-04  -  2026-01-04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799"/>
                  </a:ext>
                </a:extLst>
              </a:tr>
              <a:tr h="24498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협력업체명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027877"/>
                  </a:ext>
                </a:extLst>
              </a:tr>
              <a:tr h="24498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020880"/>
                  </a:ext>
                </a:extLst>
              </a:tr>
              <a:tr h="20729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710570"/>
                  </a:ext>
                </a:extLst>
              </a:tr>
              <a:tr h="207297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067302"/>
                  </a:ext>
                </a:extLst>
              </a:tr>
              <a:tr h="20729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기타업종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 등록번호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안전팀담당자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거절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3503436"/>
                  </a:ext>
                </a:extLst>
              </a:tr>
              <a:tr h="207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Tel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E-Mail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848897"/>
                  </a:ext>
                </a:extLst>
              </a:tr>
              <a:tr h="4145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검정업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Suveyor)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운항지원팀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911-11-11199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010-1111-1111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dqiwejo@csc.com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 거절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731139"/>
                  </a:ext>
                </a:extLst>
              </a:tr>
              <a:tr h="4145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하역업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Stevedore)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운항물류팀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321-21-54321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010-1111-1111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3"/>
                        </a:rPr>
                        <a:t>woierqo@dongbong.com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615190"/>
                  </a:ext>
                </a:extLst>
              </a:tr>
              <a:tr h="4145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검정업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Suveyor)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111-12-88888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010-1111-1111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/>
                        </a:rPr>
                        <a:t>dfwf@naver.com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  거절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840928"/>
                  </a:ext>
                </a:extLst>
              </a:tr>
              <a:tr h="4145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타업종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사무실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업무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해사관리팀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111-11-11111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차장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010-1111-1111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/>
                        </a:rPr>
                        <a:t>kdjfqowe@sebong.com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23" marR="9423" marT="94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40748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10569388" y="3429000"/>
            <a:ext cx="322730" cy="2644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0950388" y="3429000"/>
            <a:ext cx="322730" cy="2644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0569388" y="4270033"/>
            <a:ext cx="322730" cy="2644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10950388" y="4263309"/>
            <a:ext cx="322730" cy="2644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 설명선 22"/>
          <p:cNvSpPr/>
          <p:nvPr/>
        </p:nvSpPr>
        <p:spPr>
          <a:xfrm>
            <a:off x="9323294" y="1918447"/>
            <a:ext cx="2617693" cy="597200"/>
          </a:xfrm>
          <a:prstGeom prst="wedgeRectCallout">
            <a:avLst>
              <a:gd name="adj1" fmla="val 11870"/>
              <a:gd name="adj2" fmla="val 13590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승인 </a:t>
            </a:r>
            <a:r>
              <a:rPr lang="en-US" altLang="ko-KR" sz="1200" dirty="0" smtClean="0">
                <a:solidFill>
                  <a:schemeClr val="tx1"/>
                </a:solidFill>
              </a:rPr>
              <a:t>or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거절시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협력업체 </a:t>
            </a:r>
            <a:r>
              <a:rPr lang="en-US" altLang="ko-KR" sz="1200" dirty="0" smtClean="0">
                <a:solidFill>
                  <a:schemeClr val="tx1"/>
                </a:solidFill>
              </a:rPr>
              <a:t>email</a:t>
            </a:r>
            <a:r>
              <a:rPr lang="ko-KR" altLang="en-US" sz="1200" dirty="0" smtClean="0">
                <a:solidFill>
                  <a:schemeClr val="tx1"/>
                </a:solidFill>
              </a:rPr>
              <a:t>로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안내메일</a:t>
            </a:r>
            <a:r>
              <a:rPr lang="ko-KR" altLang="en-US" sz="1200" dirty="0" smtClean="0">
                <a:solidFill>
                  <a:schemeClr val="tx1"/>
                </a:solidFill>
              </a:rPr>
              <a:t> 발송</a:t>
            </a:r>
            <a:r>
              <a:rPr lang="en-US" altLang="ko-KR" sz="1200" dirty="0" smtClean="0">
                <a:solidFill>
                  <a:schemeClr val="tx1"/>
                </a:solidFill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</a:rPr>
            </a:br>
            <a:r>
              <a:rPr lang="en-US" altLang="ko-KR" sz="1200" dirty="0" smtClean="0">
                <a:solidFill>
                  <a:schemeClr val="tx1"/>
                </a:solidFill>
              </a:rPr>
              <a:t>(7page </a:t>
            </a:r>
            <a:r>
              <a:rPr lang="ko-KR" altLang="en-US" sz="1200" dirty="0" smtClean="0">
                <a:solidFill>
                  <a:schemeClr val="tx1"/>
                </a:solidFill>
              </a:rPr>
              <a:t>참조</a:t>
            </a:r>
            <a:r>
              <a:rPr lang="en-US" altLang="ko-KR" sz="1200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5" name="사각형 설명선 24"/>
          <p:cNvSpPr/>
          <p:nvPr/>
        </p:nvSpPr>
        <p:spPr>
          <a:xfrm>
            <a:off x="8673353" y="5292667"/>
            <a:ext cx="2880360" cy="597200"/>
          </a:xfrm>
          <a:prstGeom prst="wedgeRectCallout">
            <a:avLst>
              <a:gd name="adj1" fmla="val 35185"/>
              <a:gd name="adj2" fmla="val -16852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거절을 누르면 사유를 쓸 수 있는 팝업 뜨게 하기</a:t>
            </a:r>
            <a:r>
              <a:rPr lang="en-US" altLang="ko-KR" sz="1200" dirty="0" smtClean="0">
                <a:solidFill>
                  <a:schemeClr val="tx1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사유 그대로 메일 발송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6" name="이등변 삼각형 25"/>
          <p:cNvSpPr/>
          <p:nvPr/>
        </p:nvSpPr>
        <p:spPr>
          <a:xfrm flipV="1">
            <a:off x="8437805" y="1893563"/>
            <a:ext cx="88381" cy="92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844794"/>
              </p:ext>
            </p:extLst>
          </p:nvPr>
        </p:nvGraphicFramePr>
        <p:xfrm>
          <a:off x="6788074" y="2053515"/>
          <a:ext cx="1695079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5079">
                  <a:extLst>
                    <a:ext uri="{9D8B030D-6E8A-4147-A177-3AD203B41FA5}">
                      <a16:colId xmlns:a16="http://schemas.microsoft.com/office/drawing/2014/main" val="30909684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u="none" strike="noStrike" dirty="0">
                          <a:effectLst/>
                        </a:rPr>
                        <a:t>승인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493494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u="none" strike="noStrike" dirty="0">
                          <a:effectLst/>
                        </a:rPr>
                        <a:t>거절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323670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(1/10)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601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6A4B606-F978-4FC2-B9B1-A6E4AB38AD95}"/>
              </a:ext>
            </a:extLst>
          </p:cNvPr>
          <p:cNvSpPr/>
          <p:nvPr/>
        </p:nvSpPr>
        <p:spPr>
          <a:xfrm>
            <a:off x="267194" y="941151"/>
            <a:ext cx="2445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정보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수집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698090" y="1866839"/>
            <a:ext cx="76557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smtClean="0"/>
              <a:t>승선대표자에게 </a:t>
            </a:r>
            <a:r>
              <a:rPr lang="ko-KR" altLang="en-US" dirty="0" err="1" smtClean="0"/>
              <a:t>카카오톡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교육안내했었던</a:t>
            </a:r>
            <a:r>
              <a:rPr lang="ko-KR" altLang="en-US" dirty="0"/>
              <a:t> </a:t>
            </a:r>
            <a:r>
              <a:rPr lang="ko-KR" altLang="en-US" dirty="0" err="1" smtClean="0"/>
              <a:t>대화방임</a:t>
            </a:r>
            <a:r>
              <a:rPr lang="en-US" altLang="ko-KR" dirty="0" smtClean="0"/>
              <a:t>)</a:t>
            </a:r>
            <a:r>
              <a:rPr lang="ko-KR" altLang="en-US" dirty="0" smtClean="0"/>
              <a:t>으로 서류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ko-KR" altLang="en-US" dirty="0" smtClean="0"/>
              <a:t>일일안전교육일지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작업계획서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서명본</a:t>
            </a:r>
            <a:r>
              <a:rPr lang="en-US" altLang="ko-KR" dirty="0" smtClean="0"/>
              <a:t>) </a:t>
            </a:r>
            <a:r>
              <a:rPr lang="ko-KR" altLang="en-US" dirty="0" err="1" smtClean="0"/>
              <a:t>제출요청</a:t>
            </a:r>
            <a:endParaRPr lang="en-US" altLang="ko-KR" dirty="0" smtClean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smtClean="0"/>
              <a:t>대표자가 서류를 제출하면 시스템에 </a:t>
            </a:r>
            <a:r>
              <a:rPr lang="ko-KR" altLang="en-US" dirty="0" err="1" smtClean="0"/>
              <a:t>스캔본</a:t>
            </a:r>
            <a:r>
              <a:rPr lang="ko-KR" altLang="en-US" dirty="0" smtClean="0"/>
              <a:t> 형태로 자동 등록</a:t>
            </a:r>
            <a:endParaRPr lang="en-US" altLang="ko-KR" dirty="0" smtClean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 smtClean="0"/>
              <a:t>등록된 서류는 기존 선박 승선 신청 기록과 자동으로 매칭</a:t>
            </a:r>
            <a:endParaRPr lang="ko-KR" altLang="en-US" dirty="0"/>
          </a:p>
        </p:txBody>
      </p:sp>
      <p:pic>
        <p:nvPicPr>
          <p:cNvPr id="3076" name="Picture 4" descr="카카오톡 대화 시뮬레이션(최종본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13" y="1537655"/>
            <a:ext cx="2710516" cy="4818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355394"/>
              </p:ext>
            </p:extLst>
          </p:nvPr>
        </p:nvGraphicFramePr>
        <p:xfrm>
          <a:off x="3698090" y="4858892"/>
          <a:ext cx="8199869" cy="930317"/>
        </p:xfrm>
        <a:graphic>
          <a:graphicData uri="http://schemas.openxmlformats.org/drawingml/2006/table">
            <a:tbl>
              <a:tblPr/>
              <a:tblGrid>
                <a:gridCol w="418124">
                  <a:extLst>
                    <a:ext uri="{9D8B030D-6E8A-4147-A177-3AD203B41FA5}">
                      <a16:colId xmlns:a16="http://schemas.microsoft.com/office/drawing/2014/main" val="4227336386"/>
                    </a:ext>
                  </a:extLst>
                </a:gridCol>
                <a:gridCol w="836247">
                  <a:extLst>
                    <a:ext uri="{9D8B030D-6E8A-4147-A177-3AD203B41FA5}">
                      <a16:colId xmlns:a16="http://schemas.microsoft.com/office/drawing/2014/main" val="2174459354"/>
                    </a:ext>
                  </a:extLst>
                </a:gridCol>
                <a:gridCol w="696873">
                  <a:extLst>
                    <a:ext uri="{9D8B030D-6E8A-4147-A177-3AD203B41FA5}">
                      <a16:colId xmlns:a16="http://schemas.microsoft.com/office/drawing/2014/main" val="2625917513"/>
                    </a:ext>
                  </a:extLst>
                </a:gridCol>
                <a:gridCol w="1022080">
                  <a:extLst>
                    <a:ext uri="{9D8B030D-6E8A-4147-A177-3AD203B41FA5}">
                      <a16:colId xmlns:a16="http://schemas.microsoft.com/office/drawing/2014/main" val="3549973320"/>
                    </a:ext>
                  </a:extLst>
                </a:gridCol>
                <a:gridCol w="1533120">
                  <a:extLst>
                    <a:ext uri="{9D8B030D-6E8A-4147-A177-3AD203B41FA5}">
                      <a16:colId xmlns:a16="http://schemas.microsoft.com/office/drawing/2014/main" val="4088170218"/>
                    </a:ext>
                  </a:extLst>
                </a:gridCol>
                <a:gridCol w="836247">
                  <a:extLst>
                    <a:ext uri="{9D8B030D-6E8A-4147-A177-3AD203B41FA5}">
                      <a16:colId xmlns:a16="http://schemas.microsoft.com/office/drawing/2014/main" val="1557345520"/>
                    </a:ext>
                  </a:extLst>
                </a:gridCol>
                <a:gridCol w="1045309">
                  <a:extLst>
                    <a:ext uri="{9D8B030D-6E8A-4147-A177-3AD203B41FA5}">
                      <a16:colId xmlns:a16="http://schemas.microsoft.com/office/drawing/2014/main" val="75552516"/>
                    </a:ext>
                  </a:extLst>
                </a:gridCol>
                <a:gridCol w="836247">
                  <a:extLst>
                    <a:ext uri="{9D8B030D-6E8A-4147-A177-3AD203B41FA5}">
                      <a16:colId xmlns:a16="http://schemas.microsoft.com/office/drawing/2014/main" val="2850795323"/>
                    </a:ext>
                  </a:extLst>
                </a:gridCol>
                <a:gridCol w="975622">
                  <a:extLst>
                    <a:ext uri="{9D8B030D-6E8A-4147-A177-3AD203B41FA5}">
                      <a16:colId xmlns:a16="http://schemas.microsoft.com/office/drawing/2014/main" val="373931845"/>
                    </a:ext>
                  </a:extLst>
                </a:gridCol>
              </a:tblGrid>
              <a:tr h="2407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No.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업종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방문사업장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지역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항구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작업일정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작업상세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출입신청인원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193385"/>
                  </a:ext>
                </a:extLst>
              </a:tr>
              <a:tr h="3386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진행중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검수업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PAN BONA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부산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2025.02.03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~2025.02.20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검수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876175"/>
                  </a:ext>
                </a:extLst>
              </a:tr>
              <a:tr h="3386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제출완료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PAN TAEAN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울산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2025.01.05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~2025.02.02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고박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038072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4109423" y="5377840"/>
            <a:ext cx="796066" cy="4651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2</a:t>
            </a:r>
            <a:r>
              <a:rPr lang="en-US" altLang="ko-KR" dirty="0" smtClean="0"/>
              <a:t>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913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사업장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출입신청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허가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11053014" y="2079947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smtClean="0">
                <a:solidFill>
                  <a:schemeClr val="bg1"/>
                </a:solidFill>
              </a:rPr>
              <a:t>검색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23</a:t>
            </a:fld>
            <a:endParaRPr lang="ko-KR" altLang="en-US"/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282696"/>
              </p:ext>
            </p:extLst>
          </p:nvPr>
        </p:nvGraphicFramePr>
        <p:xfrm>
          <a:off x="526391" y="1628215"/>
          <a:ext cx="11139217" cy="2314740"/>
        </p:xfrm>
        <a:graphic>
          <a:graphicData uri="http://schemas.openxmlformats.org/drawingml/2006/table">
            <a:tbl>
              <a:tblPr/>
              <a:tblGrid>
                <a:gridCol w="868595">
                  <a:extLst>
                    <a:ext uri="{9D8B030D-6E8A-4147-A177-3AD203B41FA5}">
                      <a16:colId xmlns:a16="http://schemas.microsoft.com/office/drawing/2014/main" val="2945911431"/>
                    </a:ext>
                  </a:extLst>
                </a:gridCol>
                <a:gridCol w="992680">
                  <a:extLst>
                    <a:ext uri="{9D8B030D-6E8A-4147-A177-3AD203B41FA5}">
                      <a16:colId xmlns:a16="http://schemas.microsoft.com/office/drawing/2014/main" val="2493015541"/>
                    </a:ext>
                  </a:extLst>
                </a:gridCol>
                <a:gridCol w="1481265">
                  <a:extLst>
                    <a:ext uri="{9D8B030D-6E8A-4147-A177-3AD203B41FA5}">
                      <a16:colId xmlns:a16="http://schemas.microsoft.com/office/drawing/2014/main" val="1518734316"/>
                    </a:ext>
                  </a:extLst>
                </a:gridCol>
                <a:gridCol w="744510">
                  <a:extLst>
                    <a:ext uri="{9D8B030D-6E8A-4147-A177-3AD203B41FA5}">
                      <a16:colId xmlns:a16="http://schemas.microsoft.com/office/drawing/2014/main" val="1433660103"/>
                    </a:ext>
                  </a:extLst>
                </a:gridCol>
                <a:gridCol w="1364935">
                  <a:extLst>
                    <a:ext uri="{9D8B030D-6E8A-4147-A177-3AD203B41FA5}">
                      <a16:colId xmlns:a16="http://schemas.microsoft.com/office/drawing/2014/main" val="3001671376"/>
                    </a:ext>
                  </a:extLst>
                </a:gridCol>
                <a:gridCol w="868595">
                  <a:extLst>
                    <a:ext uri="{9D8B030D-6E8A-4147-A177-3AD203B41FA5}">
                      <a16:colId xmlns:a16="http://schemas.microsoft.com/office/drawing/2014/main" val="1338473363"/>
                    </a:ext>
                  </a:extLst>
                </a:gridCol>
                <a:gridCol w="868595">
                  <a:extLst>
                    <a:ext uri="{9D8B030D-6E8A-4147-A177-3AD203B41FA5}">
                      <a16:colId xmlns:a16="http://schemas.microsoft.com/office/drawing/2014/main" val="1407487094"/>
                    </a:ext>
                  </a:extLst>
                </a:gridCol>
                <a:gridCol w="496340">
                  <a:extLst>
                    <a:ext uri="{9D8B030D-6E8A-4147-A177-3AD203B41FA5}">
                      <a16:colId xmlns:a16="http://schemas.microsoft.com/office/drawing/2014/main" val="3941382512"/>
                    </a:ext>
                  </a:extLst>
                </a:gridCol>
                <a:gridCol w="496340">
                  <a:extLst>
                    <a:ext uri="{9D8B030D-6E8A-4147-A177-3AD203B41FA5}">
                      <a16:colId xmlns:a16="http://schemas.microsoft.com/office/drawing/2014/main" val="340412479"/>
                    </a:ext>
                  </a:extLst>
                </a:gridCol>
                <a:gridCol w="599744">
                  <a:extLst>
                    <a:ext uri="{9D8B030D-6E8A-4147-A177-3AD203B41FA5}">
                      <a16:colId xmlns:a16="http://schemas.microsoft.com/office/drawing/2014/main" val="3113533090"/>
                    </a:ext>
                  </a:extLst>
                </a:gridCol>
                <a:gridCol w="620426">
                  <a:extLst>
                    <a:ext uri="{9D8B030D-6E8A-4147-A177-3AD203B41FA5}">
                      <a16:colId xmlns:a16="http://schemas.microsoft.com/office/drawing/2014/main" val="1300632215"/>
                    </a:ext>
                  </a:extLst>
                </a:gridCol>
                <a:gridCol w="620426">
                  <a:extLst>
                    <a:ext uri="{9D8B030D-6E8A-4147-A177-3AD203B41FA5}">
                      <a16:colId xmlns:a16="http://schemas.microsoft.com/office/drawing/2014/main" val="3637064496"/>
                    </a:ext>
                  </a:extLst>
                </a:gridCol>
                <a:gridCol w="620426">
                  <a:extLst>
                    <a:ext uri="{9D8B030D-6E8A-4147-A177-3AD203B41FA5}">
                      <a16:colId xmlns:a16="http://schemas.microsoft.com/office/drawing/2014/main" val="2922094234"/>
                    </a:ext>
                  </a:extLst>
                </a:gridCol>
                <a:gridCol w="496340">
                  <a:extLst>
                    <a:ext uri="{9D8B030D-6E8A-4147-A177-3AD203B41FA5}">
                      <a16:colId xmlns:a16="http://schemas.microsoft.com/office/drawing/2014/main" val="4039151688"/>
                    </a:ext>
                  </a:extLst>
                </a:gridCol>
              </a:tblGrid>
              <a:tr h="231474"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신청일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2026-01-04 ~ 2026-01-04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검토상태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111498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협력업체명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004162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6405547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0465137"/>
                  </a:ext>
                </a:extLst>
              </a:tr>
              <a:tr h="2314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선박명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항구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신청일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작업일정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명단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위험성평가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안전보건서약서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작업계획서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검토자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109293"/>
                  </a:ext>
                </a:extLst>
              </a:tr>
              <a:tr h="2314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검토중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</a:t>
                      </a: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검토완료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018924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 BONANZA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울산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염포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부두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2026-01-04 13:47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2026-01-06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2026-02-03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805281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 TRITON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포항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포항항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2026-01-03 17:28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2026-01-10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263185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 RISE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감천항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8888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2026-01-03 14:30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2026-01-05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2026-02-02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172168"/>
                  </a:ext>
                </a:extLst>
              </a:tr>
              <a:tr h="2314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 JINJU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울산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염포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부두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2026-01-03 9:59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2026-01-06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2026-01-27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김환규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801" marR="7801" marT="780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398330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9541974" y="2076102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인쇄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8864816" y="2076102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excel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27" name="이등변 삼각형 26"/>
          <p:cNvSpPr/>
          <p:nvPr/>
        </p:nvSpPr>
        <p:spPr>
          <a:xfrm flipV="1">
            <a:off x="6673546" y="1699925"/>
            <a:ext cx="88381" cy="92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784718"/>
              </p:ext>
            </p:extLst>
          </p:nvPr>
        </p:nvGraphicFramePr>
        <p:xfrm>
          <a:off x="489797" y="4803758"/>
          <a:ext cx="2679700" cy="1885950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60190642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86468649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0783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사업자등롱번호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123-123-033313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8723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6674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기타업종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84890"/>
                  </a:ext>
                </a:extLst>
              </a:tr>
              <a:tr h="2095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안전담당자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528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양시현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90570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8259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010-0000-0000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39652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E-mail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sihyun@csc.com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365392"/>
                  </a:ext>
                </a:extLst>
              </a:tr>
            </a:tbl>
          </a:graphicData>
        </a:graphic>
      </p:graphicFrame>
      <p:cxnSp>
        <p:nvCxnSpPr>
          <p:cNvPr id="30" name="직선 화살표 연결선 29"/>
          <p:cNvCxnSpPr/>
          <p:nvPr/>
        </p:nvCxnSpPr>
        <p:spPr>
          <a:xfrm flipH="1">
            <a:off x="2603351" y="3205779"/>
            <a:ext cx="1516829" cy="15108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18889900">
            <a:off x="2577641" y="4020462"/>
            <a:ext cx="1568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회사 </a:t>
            </a:r>
            <a:r>
              <a:rPr lang="ko-KR" altLang="en-US" sz="1200" dirty="0" err="1" smtClean="0"/>
              <a:t>클릭시</a:t>
            </a:r>
            <a:endParaRPr lang="ko-KR" altLang="en-US" sz="1200" dirty="0"/>
          </a:p>
        </p:txBody>
      </p:sp>
      <p:cxnSp>
        <p:nvCxnSpPr>
          <p:cNvPr id="34" name="직선 화살표 연결선 33"/>
          <p:cNvCxnSpPr/>
          <p:nvPr/>
        </p:nvCxnSpPr>
        <p:spPr>
          <a:xfrm flipH="1">
            <a:off x="6341098" y="3094923"/>
            <a:ext cx="1516829" cy="15108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11875" y="4734154"/>
            <a:ext cx="25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명단 </a:t>
            </a:r>
            <a:r>
              <a:rPr lang="ko-KR" altLang="en-US" sz="1200" dirty="0" err="1" smtClean="0"/>
              <a:t>클릭시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신청명단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휴대폰번호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교육이수여부까지 팝업</a:t>
            </a:r>
            <a:endParaRPr lang="ko-KR" altLang="en-US" sz="1200" dirty="0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9641192" y="3429000"/>
            <a:ext cx="34933" cy="65882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 설명선 42"/>
          <p:cNvSpPr/>
          <p:nvPr/>
        </p:nvSpPr>
        <p:spPr>
          <a:xfrm>
            <a:off x="7494886" y="1030929"/>
            <a:ext cx="1157344" cy="597200"/>
          </a:xfrm>
          <a:prstGeom prst="wedgeRectCallout">
            <a:avLst>
              <a:gd name="adj1" fmla="val 160181"/>
              <a:gd name="adj2" fmla="val 26740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검토완료</a:t>
            </a:r>
            <a:r>
              <a:rPr lang="ko-KR" altLang="en-US" sz="1200" dirty="0" smtClean="0">
                <a:solidFill>
                  <a:schemeClr val="tx1"/>
                </a:solidFill>
              </a:rPr>
              <a:t> 후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수정불가능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94886" y="5340687"/>
            <a:ext cx="4918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서류 </a:t>
            </a:r>
            <a:r>
              <a:rPr lang="ko-KR" altLang="en-US" sz="1200" dirty="0" err="1" smtClean="0"/>
              <a:t>클릭시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err="1" smtClean="0"/>
              <a:t>위험성평가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다음</a:t>
            </a:r>
            <a:r>
              <a:rPr lang="en-US" altLang="ko-KR" sz="1200" dirty="0" smtClean="0"/>
              <a:t>) -&gt; </a:t>
            </a:r>
            <a:r>
              <a:rPr lang="ko-KR" altLang="en-US" sz="1200" dirty="0" smtClean="0"/>
              <a:t>안전보건서약서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다음</a:t>
            </a:r>
            <a:r>
              <a:rPr lang="en-US" altLang="ko-KR" sz="1200" dirty="0" smtClean="0"/>
              <a:t>) -&gt; </a:t>
            </a:r>
            <a:r>
              <a:rPr lang="ko-KR" altLang="en-US" sz="1200" dirty="0" err="1" smtClean="0"/>
              <a:t>작업계획서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smtClean="0"/>
              <a:t>차례로 팝업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각각 </a:t>
            </a:r>
            <a:r>
              <a:rPr lang="ko-KR" altLang="en-US" sz="1200" dirty="0" err="1" smtClean="0"/>
              <a:t>인쇄기능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넣기</a:t>
            </a:r>
            <a:endParaRPr lang="ko-KR" altLang="en-US" sz="1200" dirty="0"/>
          </a:p>
        </p:txBody>
      </p:sp>
      <p:sp>
        <p:nvSpPr>
          <p:cNvPr id="46" name="사각형 설명선 45"/>
          <p:cNvSpPr/>
          <p:nvPr/>
        </p:nvSpPr>
        <p:spPr>
          <a:xfrm>
            <a:off x="9961581" y="917450"/>
            <a:ext cx="2104443" cy="859966"/>
          </a:xfrm>
          <a:prstGeom prst="wedgeRectCallout">
            <a:avLst>
              <a:gd name="adj1" fmla="val 1239"/>
              <a:gd name="adj2" fmla="val 6385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검토완료를 누르면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방문허가할건지</a:t>
            </a:r>
            <a:r>
              <a:rPr lang="en-US" altLang="ko-KR" sz="1200" dirty="0" smtClean="0">
                <a:solidFill>
                  <a:schemeClr val="tx1"/>
                </a:solidFill>
              </a:rPr>
              <a:t>? </a:t>
            </a:r>
            <a:r>
              <a:rPr lang="ko-KR" altLang="en-US" sz="1200" dirty="0" smtClean="0">
                <a:solidFill>
                  <a:schemeClr val="tx1"/>
                </a:solidFill>
              </a:rPr>
              <a:t>아니면 처음부터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자동허가</a:t>
            </a:r>
            <a:r>
              <a:rPr lang="ko-KR" altLang="en-US" sz="1200" dirty="0" smtClean="0">
                <a:solidFill>
                  <a:schemeClr val="tx1"/>
                </a:solidFill>
              </a:rPr>
              <a:t> 후 검토</a:t>
            </a:r>
            <a:r>
              <a:rPr lang="en-US" altLang="ko-KR" sz="1200" dirty="0" smtClea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10205034" y="2076102"/>
            <a:ext cx="76092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업체</a:t>
            </a:r>
            <a:r>
              <a:rPr lang="en-US" altLang="ko-KR" sz="900" b="1" dirty="0" smtClean="0">
                <a:solidFill>
                  <a:schemeClr val="bg1"/>
                </a:solidFill>
              </a:rPr>
              <a:t>List </a:t>
            </a:r>
          </a:p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다운로드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 flipH="1">
            <a:off x="8033248" y="3279357"/>
            <a:ext cx="324641" cy="191646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33210" y="4192055"/>
            <a:ext cx="3490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개선요청을</a:t>
            </a:r>
            <a:r>
              <a:rPr lang="ko-KR" altLang="en-US" sz="1200" dirty="0" smtClean="0"/>
              <a:t> 누르면 사유를 쓸 수 있는 팝업 뜨고</a:t>
            </a:r>
            <a:r>
              <a:rPr lang="en-US" altLang="ko-KR" sz="1200" dirty="0" smtClean="0"/>
              <a:t>, </a:t>
            </a:r>
          </a:p>
          <a:p>
            <a:r>
              <a:rPr lang="ko-KR" altLang="en-US" sz="1200" dirty="0" smtClean="0"/>
              <a:t>사유 적으면 담당자에게 자동 메일 발송 </a:t>
            </a:r>
            <a:endParaRPr lang="ko-KR" alt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3</a:t>
            </a:r>
            <a:r>
              <a:rPr lang="en-US" altLang="ko-KR" dirty="0" smtClean="0"/>
              <a:t>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823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○ 협력업체 안전보건평가 검토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11053014" y="2079947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smtClean="0">
                <a:solidFill>
                  <a:schemeClr val="bg1"/>
                </a:solidFill>
              </a:rPr>
              <a:t>검색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9541974" y="2076102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인쇄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8864816" y="2076102"/>
            <a:ext cx="57600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 smtClean="0">
                <a:solidFill>
                  <a:schemeClr val="bg1"/>
                </a:solidFill>
              </a:rPr>
              <a:t>excel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sp>
        <p:nvSpPr>
          <p:cNvPr id="27" name="이등변 삼각형 26"/>
          <p:cNvSpPr/>
          <p:nvPr/>
        </p:nvSpPr>
        <p:spPr>
          <a:xfrm flipV="1">
            <a:off x="6673546" y="1699925"/>
            <a:ext cx="88381" cy="92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784718"/>
              </p:ext>
            </p:extLst>
          </p:nvPr>
        </p:nvGraphicFramePr>
        <p:xfrm>
          <a:off x="489797" y="4803758"/>
          <a:ext cx="2679700" cy="1885950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60190642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86468649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07835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사업자등롱번호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123-123-033313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8723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6674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기타업종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84890"/>
                  </a:ext>
                </a:extLst>
              </a:tr>
              <a:tr h="2095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안전담당자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528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양시현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90570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직책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8259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010-0000-0000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39652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E-mail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2"/>
                        </a:rPr>
                        <a:t>sihyun@csc.com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365392"/>
                  </a:ext>
                </a:extLst>
              </a:tr>
            </a:tbl>
          </a:graphicData>
        </a:graphic>
      </p:graphicFrame>
      <p:cxnSp>
        <p:nvCxnSpPr>
          <p:cNvPr id="30" name="직선 화살표 연결선 29"/>
          <p:cNvCxnSpPr/>
          <p:nvPr/>
        </p:nvCxnSpPr>
        <p:spPr>
          <a:xfrm flipH="1">
            <a:off x="2603352" y="3302598"/>
            <a:ext cx="1280159" cy="14140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18708623">
            <a:off x="2577641" y="4020462"/>
            <a:ext cx="1568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회사 </a:t>
            </a:r>
            <a:r>
              <a:rPr lang="ko-KR" altLang="en-US" sz="1200" dirty="0" err="1" smtClean="0"/>
              <a:t>클릭시</a:t>
            </a:r>
            <a:endParaRPr lang="ko-KR" altLang="en-US" sz="1200" dirty="0"/>
          </a:p>
        </p:txBody>
      </p:sp>
      <p:cxnSp>
        <p:nvCxnSpPr>
          <p:cNvPr id="34" name="직선 화살표 연결선 33"/>
          <p:cNvCxnSpPr/>
          <p:nvPr/>
        </p:nvCxnSpPr>
        <p:spPr>
          <a:xfrm flipH="1">
            <a:off x="5840087" y="3186062"/>
            <a:ext cx="1516829" cy="15108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18932067">
            <a:off x="5965132" y="4207130"/>
            <a:ext cx="1172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평가표 </a:t>
            </a:r>
            <a:r>
              <a:rPr lang="ko-KR" altLang="en-US" sz="1200" dirty="0" err="1" smtClean="0"/>
              <a:t>클릭시</a:t>
            </a:r>
            <a:endParaRPr lang="ko-KR" altLang="en-US" sz="1200" dirty="0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8261873" y="3223279"/>
            <a:ext cx="0" cy="10659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 설명선 42"/>
          <p:cNvSpPr/>
          <p:nvPr/>
        </p:nvSpPr>
        <p:spPr>
          <a:xfrm>
            <a:off x="7204410" y="1144863"/>
            <a:ext cx="1157344" cy="597200"/>
          </a:xfrm>
          <a:prstGeom prst="wedgeRectCallout">
            <a:avLst>
              <a:gd name="adj1" fmla="val 188066"/>
              <a:gd name="adj2" fmla="val 24218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검토완료</a:t>
            </a:r>
            <a:r>
              <a:rPr lang="ko-KR" altLang="en-US" sz="1200" dirty="0" smtClean="0">
                <a:solidFill>
                  <a:schemeClr val="tx1"/>
                </a:solidFill>
              </a:rPr>
              <a:t> 후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수정불가능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D8E3ED-D653-4093-A370-E680690365D1}"/>
              </a:ext>
            </a:extLst>
          </p:cNvPr>
          <p:cNvSpPr/>
          <p:nvPr/>
        </p:nvSpPr>
        <p:spPr>
          <a:xfrm>
            <a:off x="10205034" y="2076102"/>
            <a:ext cx="760920" cy="3240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업체</a:t>
            </a:r>
            <a:r>
              <a:rPr lang="en-US" altLang="ko-KR" sz="900" b="1" dirty="0" smtClean="0">
                <a:solidFill>
                  <a:schemeClr val="bg1"/>
                </a:solidFill>
              </a:rPr>
              <a:t>List </a:t>
            </a:r>
          </a:p>
          <a:p>
            <a:pPr algn="ctr"/>
            <a:r>
              <a:rPr lang="ko-KR" altLang="en-US" sz="900" b="1" dirty="0" smtClean="0">
                <a:solidFill>
                  <a:schemeClr val="bg1"/>
                </a:solidFill>
              </a:rPr>
              <a:t>다운로드</a:t>
            </a:r>
            <a:endParaRPr lang="en-US" altLang="ko-KR" sz="9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171810"/>
              </p:ext>
            </p:extLst>
          </p:nvPr>
        </p:nvGraphicFramePr>
        <p:xfrm>
          <a:off x="1113414" y="1636841"/>
          <a:ext cx="10515600" cy="2250911"/>
        </p:xfrm>
        <a:graphic>
          <a:graphicData uri="http://schemas.openxmlformats.org/drawingml/2006/table">
            <a:tbl>
              <a:tblPr/>
              <a:tblGrid>
                <a:gridCol w="874898">
                  <a:extLst>
                    <a:ext uri="{9D8B030D-6E8A-4147-A177-3AD203B41FA5}">
                      <a16:colId xmlns:a16="http://schemas.microsoft.com/office/drawing/2014/main" val="2801554144"/>
                    </a:ext>
                  </a:extLst>
                </a:gridCol>
                <a:gridCol w="1606784">
                  <a:extLst>
                    <a:ext uri="{9D8B030D-6E8A-4147-A177-3AD203B41FA5}">
                      <a16:colId xmlns:a16="http://schemas.microsoft.com/office/drawing/2014/main" val="2660207148"/>
                    </a:ext>
                  </a:extLst>
                </a:gridCol>
                <a:gridCol w="1001085">
                  <a:extLst>
                    <a:ext uri="{9D8B030D-6E8A-4147-A177-3AD203B41FA5}">
                      <a16:colId xmlns:a16="http://schemas.microsoft.com/office/drawing/2014/main" val="4005240371"/>
                    </a:ext>
                  </a:extLst>
                </a:gridCol>
                <a:gridCol w="930981">
                  <a:extLst>
                    <a:ext uri="{9D8B030D-6E8A-4147-A177-3AD203B41FA5}">
                      <a16:colId xmlns:a16="http://schemas.microsoft.com/office/drawing/2014/main" val="4231845431"/>
                    </a:ext>
                  </a:extLst>
                </a:gridCol>
                <a:gridCol w="930981">
                  <a:extLst>
                    <a:ext uri="{9D8B030D-6E8A-4147-A177-3AD203B41FA5}">
                      <a16:colId xmlns:a16="http://schemas.microsoft.com/office/drawing/2014/main" val="556739481"/>
                    </a:ext>
                  </a:extLst>
                </a:gridCol>
                <a:gridCol w="751515">
                  <a:extLst>
                    <a:ext uri="{9D8B030D-6E8A-4147-A177-3AD203B41FA5}">
                      <a16:colId xmlns:a16="http://schemas.microsoft.com/office/drawing/2014/main" val="151318242"/>
                    </a:ext>
                  </a:extLst>
                </a:gridCol>
                <a:gridCol w="605699">
                  <a:extLst>
                    <a:ext uri="{9D8B030D-6E8A-4147-A177-3AD203B41FA5}">
                      <a16:colId xmlns:a16="http://schemas.microsoft.com/office/drawing/2014/main" val="1445251623"/>
                    </a:ext>
                  </a:extLst>
                </a:gridCol>
                <a:gridCol w="605699">
                  <a:extLst>
                    <a:ext uri="{9D8B030D-6E8A-4147-A177-3AD203B41FA5}">
                      <a16:colId xmlns:a16="http://schemas.microsoft.com/office/drawing/2014/main" val="1771708817"/>
                    </a:ext>
                  </a:extLst>
                </a:gridCol>
                <a:gridCol w="650565">
                  <a:extLst>
                    <a:ext uri="{9D8B030D-6E8A-4147-A177-3AD203B41FA5}">
                      <a16:colId xmlns:a16="http://schemas.microsoft.com/office/drawing/2014/main" val="3778368558"/>
                    </a:ext>
                  </a:extLst>
                </a:gridCol>
                <a:gridCol w="672998">
                  <a:extLst>
                    <a:ext uri="{9D8B030D-6E8A-4147-A177-3AD203B41FA5}">
                      <a16:colId xmlns:a16="http://schemas.microsoft.com/office/drawing/2014/main" val="1155181702"/>
                    </a:ext>
                  </a:extLst>
                </a:gridCol>
                <a:gridCol w="672998">
                  <a:extLst>
                    <a:ext uri="{9D8B030D-6E8A-4147-A177-3AD203B41FA5}">
                      <a16:colId xmlns:a16="http://schemas.microsoft.com/office/drawing/2014/main" val="3262499451"/>
                    </a:ext>
                  </a:extLst>
                </a:gridCol>
                <a:gridCol w="672998">
                  <a:extLst>
                    <a:ext uri="{9D8B030D-6E8A-4147-A177-3AD203B41FA5}">
                      <a16:colId xmlns:a16="http://schemas.microsoft.com/office/drawing/2014/main" val="2639296896"/>
                    </a:ext>
                  </a:extLst>
                </a:gridCol>
                <a:gridCol w="538399">
                  <a:extLst>
                    <a:ext uri="{9D8B030D-6E8A-4147-A177-3AD203B41FA5}">
                      <a16:colId xmlns:a16="http://schemas.microsoft.com/office/drawing/2014/main" val="3082962023"/>
                    </a:ext>
                  </a:extLst>
                </a:gridCol>
              </a:tblGrid>
              <a:tr h="18757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평가일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2026-01-04 ~ 2026-01-04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647790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평가자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314451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평가회사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340120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702962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26" marR="8526" marT="8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6645509"/>
                  </a:ext>
                </a:extLst>
              </a:tr>
              <a:tr h="18757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평가일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사업자등록번호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평가업체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평가자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평가결과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평가결과 검토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검토자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330748"/>
                  </a:ext>
                </a:extLst>
              </a:tr>
              <a:tr h="3751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평가표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증빙서류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검토중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검토완료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371395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123-123-192919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운항지원팀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박지훈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426811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123-123-192920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운항물류팀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엄홍도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689561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123-123-192921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CSC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운항물류팀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이홍위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850189"/>
                  </a:ext>
                </a:extLst>
              </a:tr>
              <a:tr h="1875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2026-01-09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123-123-192922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타스글로벌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해사관리팀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유지태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적격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&lt;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Wingdings" panose="05000000000000000000" pitchFamily="2" charset="2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김환규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26" marR="8526" marT="8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609761"/>
                  </a:ext>
                </a:extLst>
              </a:tr>
            </a:tbl>
          </a:graphicData>
        </a:graphic>
      </p:graphicFrame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437" y="4626840"/>
            <a:ext cx="1796724" cy="205424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DEFE9FB2-439B-4681-B9FB-56A166AE3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202" y="4408760"/>
            <a:ext cx="3701227" cy="22936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96154" y="3947095"/>
            <a:ext cx="241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증빙서류 </a:t>
            </a:r>
            <a:r>
              <a:rPr lang="ko-KR" altLang="en-US" sz="1200" dirty="0" err="1" smtClean="0"/>
              <a:t>클릭시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화면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-</a:t>
            </a:r>
          </a:p>
          <a:p>
            <a:r>
              <a:rPr lang="ko-KR" altLang="en-US" sz="1200" dirty="0" smtClean="0"/>
              <a:t>파일명 누르면 </a:t>
            </a:r>
            <a:r>
              <a:rPr lang="en-US" altLang="ko-KR" sz="1200" dirty="0" smtClean="0"/>
              <a:t>pdf</a:t>
            </a:r>
            <a:r>
              <a:rPr lang="ko-KR" altLang="en-US" sz="1200" dirty="0" smtClean="0"/>
              <a:t>로 볼 수 있게</a:t>
            </a:r>
            <a:endParaRPr lang="ko-KR" alt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4</a:t>
            </a:r>
            <a:r>
              <a:rPr lang="en-US" altLang="ko-KR" dirty="0" smtClean="0"/>
              <a:t>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72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모서리가 둥근 사각형 설명선 21"/>
          <p:cNvSpPr/>
          <p:nvPr/>
        </p:nvSpPr>
        <p:spPr>
          <a:xfrm>
            <a:off x="6096000" y="2391715"/>
            <a:ext cx="5685693" cy="1037285"/>
          </a:xfrm>
          <a:prstGeom prst="wedgeRoundRectCallout">
            <a:avLst>
              <a:gd name="adj1" fmla="val -67936"/>
              <a:gd name="adj2" fmla="val 376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600" dirty="0" err="1" smtClean="0">
                <a:ln w="0"/>
                <a:solidFill>
                  <a:schemeClr val="tx1"/>
                </a:solidFill>
              </a:rPr>
              <a:t>개선요청</a:t>
            </a:r>
            <a:r>
              <a:rPr lang="ko-KR" altLang="en-US" sz="1600" dirty="0" smtClean="0">
                <a:ln w="0"/>
                <a:solidFill>
                  <a:schemeClr val="tx1"/>
                </a:solidFill>
              </a:rPr>
              <a:t> 받은 후 수정 </a:t>
            </a:r>
            <a:r>
              <a:rPr lang="en-US" altLang="ko-KR" sz="1600" dirty="0">
                <a:ln w="0"/>
                <a:solidFill>
                  <a:schemeClr val="tx1"/>
                </a:solidFill>
              </a:rPr>
              <a:t>History</a:t>
            </a:r>
            <a:r>
              <a:rPr lang="ko-KR" altLang="en-US" sz="1600" dirty="0">
                <a:ln w="0"/>
                <a:solidFill>
                  <a:schemeClr val="tx1"/>
                </a:solidFill>
              </a:rPr>
              <a:t>가 </a:t>
            </a:r>
            <a:r>
              <a:rPr lang="ko-KR" altLang="en-US" sz="1600" dirty="0" smtClean="0">
                <a:ln w="0"/>
                <a:solidFill>
                  <a:schemeClr val="tx1"/>
                </a:solidFill>
              </a:rPr>
              <a:t>나오도록</a:t>
            </a:r>
            <a:endParaRPr lang="en-US" altLang="ko-KR" sz="1600" dirty="0" smtClean="0">
              <a:ln w="0"/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600" dirty="0" smtClean="0">
                <a:ln w="0"/>
                <a:solidFill>
                  <a:schemeClr val="tx1"/>
                </a:solidFill>
              </a:rPr>
              <a:t>평가표 자체 항목이나 틀을 관리자가 변경할 수 </a:t>
            </a:r>
            <a:r>
              <a:rPr lang="ko-KR" altLang="en-US" sz="1600" dirty="0" smtClean="0">
                <a:ln w="0"/>
                <a:solidFill>
                  <a:schemeClr val="tx1"/>
                </a:solidFill>
              </a:rPr>
              <a:t>있도록</a:t>
            </a:r>
            <a:endParaRPr lang="en-US" altLang="ko-KR" sz="1600" dirty="0" smtClean="0">
              <a:ln w="0"/>
              <a:solidFill>
                <a:schemeClr val="tx1"/>
              </a:solidFill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7" y="1368140"/>
            <a:ext cx="4658061" cy="5325683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협력업체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안전보건평가 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항목관리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5</a:t>
            </a:r>
            <a:r>
              <a:rPr lang="en-US" altLang="ko-KR" dirty="0" smtClean="0"/>
              <a:t>/10)</a:t>
            </a:r>
            <a:endParaRPr lang="ko-KR" altLang="en-US" dirty="0"/>
          </a:p>
        </p:txBody>
      </p:sp>
      <p:sp>
        <p:nvSpPr>
          <p:cNvPr id="2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3879F9-35B3-4A1C-8E90-6D5CC150147E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015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안전수칙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등록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말풍선: 모서리가 둥근 사각형 30">
            <a:extLst>
              <a:ext uri="{FF2B5EF4-FFF2-40B4-BE49-F238E27FC236}">
                <a16:creationId xmlns:a16="http://schemas.microsoft.com/office/drawing/2014/main" id="{3C9ED885-61CD-42CD-9FFF-797AC05D434B}"/>
              </a:ext>
            </a:extLst>
          </p:cNvPr>
          <p:cNvSpPr/>
          <p:nvPr/>
        </p:nvSpPr>
        <p:spPr>
          <a:xfrm>
            <a:off x="3513763" y="1486210"/>
            <a:ext cx="2448125" cy="369332"/>
          </a:xfrm>
          <a:prstGeom prst="wedgeRoundRectCallout">
            <a:avLst>
              <a:gd name="adj1" fmla="val -107333"/>
              <a:gd name="adj2" fmla="val -2116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tx1"/>
                </a:solidFill>
              </a:rPr>
              <a:t>Drop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Down</a:t>
            </a:r>
            <a:r>
              <a:rPr lang="ko-KR" altLang="en-US" sz="1200" dirty="0">
                <a:solidFill>
                  <a:schemeClr val="tx1"/>
                </a:solidFill>
              </a:rPr>
              <a:t> 방식으로 업종 선택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0AABA0-692F-480D-ADFD-1FEE61D0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83" y="1445910"/>
            <a:ext cx="1381318" cy="8192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FD34A06-D53C-46B5-BA8E-7EB7F0647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3" y="2722902"/>
            <a:ext cx="7248525" cy="2952750"/>
          </a:xfrm>
          <a:prstGeom prst="rect">
            <a:avLst/>
          </a:prstGeom>
        </p:spPr>
      </p:pic>
      <p:sp>
        <p:nvSpPr>
          <p:cNvPr id="32" name="말풍선: 모서리가 둥근 사각형 31">
            <a:extLst>
              <a:ext uri="{FF2B5EF4-FFF2-40B4-BE49-F238E27FC236}">
                <a16:creationId xmlns:a16="http://schemas.microsoft.com/office/drawing/2014/main" id="{27B97D8E-B071-4F7C-932D-5FFA34A56095}"/>
              </a:ext>
            </a:extLst>
          </p:cNvPr>
          <p:cNvSpPr/>
          <p:nvPr/>
        </p:nvSpPr>
        <p:spPr>
          <a:xfrm>
            <a:off x="8391874" y="2813069"/>
            <a:ext cx="2021528" cy="369332"/>
          </a:xfrm>
          <a:prstGeom prst="wedgeRoundRectCallout">
            <a:avLst>
              <a:gd name="adj1" fmla="val -66104"/>
              <a:gd name="adj2" fmla="val 21401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solidFill>
                  <a:schemeClr val="tx1"/>
                </a:solidFill>
              </a:rPr>
              <a:t>안전수칙 입력 시 </a:t>
            </a:r>
            <a:r>
              <a:rPr lang="en-US" altLang="ko-KR" sz="1200" dirty="0">
                <a:solidFill>
                  <a:schemeClr val="tx1"/>
                </a:solidFill>
              </a:rPr>
              <a:t>Display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9531F3-79CA-4B60-822A-EB269DE1F7F9}"/>
              </a:ext>
            </a:extLst>
          </p:cNvPr>
          <p:cNvSpPr/>
          <p:nvPr/>
        </p:nvSpPr>
        <p:spPr>
          <a:xfrm>
            <a:off x="3443592" y="5786945"/>
            <a:ext cx="792000" cy="2217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Line </a:t>
            </a:r>
            <a:r>
              <a:rPr lang="ko-KR" altLang="en-US" sz="1000" b="1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C9A8A1-B56F-406B-8548-FD078532442F}"/>
              </a:ext>
            </a:extLst>
          </p:cNvPr>
          <p:cNvSpPr/>
          <p:nvPr/>
        </p:nvSpPr>
        <p:spPr>
          <a:xfrm>
            <a:off x="4605802" y="5786945"/>
            <a:ext cx="792000" cy="22171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반영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6</a:t>
            </a:r>
            <a:r>
              <a:rPr lang="en-US" altLang="ko-KR" dirty="0" smtClean="0"/>
              <a:t>/10)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29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E236F0-CB95-413B-BA44-443CABF562BD}"/>
              </a:ext>
            </a:extLst>
          </p:cNvPr>
          <p:cNvSpPr/>
          <p:nvPr/>
        </p:nvSpPr>
        <p:spPr>
          <a:xfrm>
            <a:off x="272203" y="960197"/>
            <a:ext cx="4064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</a:rPr>
              <a:t>○ 협력업체 산업재해 발생</a:t>
            </a:r>
            <a:r>
              <a:rPr lang="en-US" altLang="ko-KR" dirty="0">
                <a:latin typeface="맑은 고딕" panose="020B0503020000020004" pitchFamily="50" charset="-127"/>
              </a:rPr>
              <a:t>List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79F9-35B3-4A1C-8E90-6D5CC150147E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170" name="Picture 2" descr="재해발생수준 대시보드 시각화 U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3" t="9600" r="1219"/>
          <a:stretch/>
        </p:blipFill>
        <p:spPr bwMode="auto">
          <a:xfrm>
            <a:off x="613188" y="1413050"/>
            <a:ext cx="5174426" cy="512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모서리가 둥근 사각형 설명선 17"/>
          <p:cNvSpPr/>
          <p:nvPr/>
        </p:nvSpPr>
        <p:spPr>
          <a:xfrm>
            <a:off x="5871882" y="3905150"/>
            <a:ext cx="6038903" cy="1037285"/>
          </a:xfrm>
          <a:prstGeom prst="wedgeRoundRectCallout">
            <a:avLst>
              <a:gd name="adj1" fmla="val -56359"/>
              <a:gd name="adj2" fmla="val -10824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재해발생수준</a:t>
            </a:r>
            <a:r>
              <a:rPr lang="en-US" altLang="ko-KR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파트에서 </a:t>
            </a:r>
            <a:r>
              <a:rPr lang="ko-KR" altLang="en-US" sz="1600" dirty="0" smtClean="0">
                <a:solidFill>
                  <a:schemeClr val="tx1"/>
                </a:solidFill>
              </a:rPr>
              <a:t>업체 </a:t>
            </a:r>
            <a:r>
              <a:rPr lang="en-US" altLang="ko-KR" sz="1600" dirty="0" smtClean="0">
                <a:solidFill>
                  <a:schemeClr val="tx1"/>
                </a:solidFill>
              </a:rPr>
              <a:t>or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계약부서가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사업장산업재해율조사표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원인 및 재방방지대책 파일을 올리면 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사업자등록번호와 자동 매칭 되어 기록관리 </a:t>
            </a:r>
          </a:p>
          <a:p>
            <a:endParaRPr lang="en-US" altLang="ko-KR" sz="1600" dirty="0">
              <a:ln w="0"/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H="1">
            <a:off x="5871882" y="1852101"/>
            <a:ext cx="770967" cy="13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257" y="1667435"/>
            <a:ext cx="443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사업자등록번호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업체명</a:t>
            </a:r>
            <a:r>
              <a:rPr lang="ko-KR" altLang="en-US" dirty="0" smtClean="0"/>
              <a:t> 검색기능 추가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7</a:t>
            </a:r>
            <a:r>
              <a:rPr lang="en-US" altLang="ko-KR" dirty="0" smtClean="0"/>
              <a:t>/10)</a:t>
            </a:r>
            <a:endParaRPr lang="ko-KR" altLang="en-US" dirty="0"/>
          </a:p>
        </p:txBody>
      </p:sp>
      <p:pic>
        <p:nvPicPr>
          <p:cNvPr id="5122" name="Picture 2" descr="날짜 조회 란 이미지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166" y="1548287"/>
            <a:ext cx="1982448" cy="48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02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A4B606-F978-4FC2-B9B1-A6E4AB38AD95}"/>
              </a:ext>
            </a:extLst>
          </p:cNvPr>
          <p:cNvSpPr/>
          <p:nvPr/>
        </p:nvSpPr>
        <p:spPr>
          <a:xfrm>
            <a:off x="267194" y="941151"/>
            <a:ext cx="2445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안전보건실적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128" name="Picture 8" descr="세로형 리스트 메뉴 UI (수정본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94" y="1492934"/>
            <a:ext cx="4135127" cy="265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/>
          <p:cNvSpPr/>
          <p:nvPr/>
        </p:nvSpPr>
        <p:spPr>
          <a:xfrm>
            <a:off x="3388659" y="5379135"/>
            <a:ext cx="8484335" cy="977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기존</a:t>
            </a:r>
            <a:r>
              <a:rPr lang="en-US" altLang="ko-KR" sz="1400" dirty="0" smtClean="0">
                <a:solidFill>
                  <a:schemeClr val="tx1"/>
                </a:solidFill>
              </a:rPr>
              <a:t>) </a:t>
            </a:r>
            <a:r>
              <a:rPr lang="ko-KR" altLang="en-US" sz="1400" dirty="0" smtClean="0">
                <a:solidFill>
                  <a:schemeClr val="tx1"/>
                </a:solidFill>
              </a:rPr>
              <a:t>이메일로 개별 연락 후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개별 취합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변경</a:t>
            </a:r>
            <a:r>
              <a:rPr lang="en-US" altLang="ko-KR" sz="1400" dirty="0" smtClean="0">
                <a:solidFill>
                  <a:schemeClr val="tx1"/>
                </a:solidFill>
              </a:rPr>
              <a:t>) </a:t>
            </a:r>
            <a:r>
              <a:rPr lang="ko-KR" altLang="en-US" sz="1400" dirty="0" smtClean="0">
                <a:solidFill>
                  <a:schemeClr val="tx1"/>
                </a:solidFill>
              </a:rPr>
              <a:t>이메일 개별 연락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각 부서가 포털에서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실적기입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조회 부서 선택</a:t>
            </a:r>
            <a:r>
              <a:rPr lang="en-US" altLang="ko-KR" sz="1400" dirty="0" smtClean="0">
                <a:solidFill>
                  <a:schemeClr val="tx1"/>
                </a:solidFill>
              </a:rPr>
              <a:t>: </a:t>
            </a:r>
            <a:r>
              <a:rPr lang="ko-KR" altLang="en-US" sz="1400" dirty="0" smtClean="0">
                <a:solidFill>
                  <a:schemeClr val="tx1"/>
                </a:solidFill>
              </a:rPr>
              <a:t>종합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엑셀 다운로드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         **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예산내역은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FCM or VBP </a:t>
            </a:r>
            <a:r>
              <a:rPr lang="ko-KR" altLang="en-US" sz="1400" dirty="0" smtClean="0">
                <a:solidFill>
                  <a:schemeClr val="tx1"/>
                </a:solidFill>
              </a:rPr>
              <a:t>에서 끌어오기</a:t>
            </a:r>
            <a:r>
              <a:rPr lang="en-US" altLang="ko-KR" sz="1400" dirty="0" smtClean="0">
                <a:solidFill>
                  <a:schemeClr val="tx1"/>
                </a:solidFill>
              </a:rPr>
              <a:t/>
            </a:r>
            <a:br>
              <a:rPr lang="en-US" altLang="ko-KR" sz="1400" dirty="0" smtClean="0">
                <a:solidFill>
                  <a:schemeClr val="tx1"/>
                </a:solidFill>
              </a:rPr>
            </a:br>
            <a:r>
              <a:rPr lang="en-US" altLang="ko-KR" sz="1400" dirty="0" smtClean="0">
                <a:solidFill>
                  <a:schemeClr val="tx1"/>
                </a:solidFill>
              </a:rPr>
              <a:t>         ** </a:t>
            </a:r>
            <a:r>
              <a:rPr lang="ko-KR" altLang="en-US" sz="1400" dirty="0" smtClean="0">
                <a:solidFill>
                  <a:schemeClr val="tx1"/>
                </a:solidFill>
              </a:rPr>
              <a:t>비용 상세</a:t>
            </a:r>
            <a:r>
              <a:rPr lang="en-US" altLang="ko-KR" sz="1400" dirty="0" smtClean="0">
                <a:solidFill>
                  <a:schemeClr val="tx1"/>
                </a:solidFill>
              </a:rPr>
              <a:t> (</a:t>
            </a:r>
            <a:r>
              <a:rPr lang="ko-KR" altLang="en-US" sz="1400" dirty="0" smtClean="0">
                <a:solidFill>
                  <a:schemeClr val="tx1"/>
                </a:solidFill>
              </a:rPr>
              <a:t>예산 항목</a:t>
            </a:r>
            <a:r>
              <a:rPr lang="en-US" altLang="ko-KR" sz="1400" dirty="0" smtClean="0">
                <a:solidFill>
                  <a:schemeClr val="tx1"/>
                </a:solidFill>
              </a:rPr>
              <a:t>) </a:t>
            </a:r>
            <a:r>
              <a:rPr lang="ko-KR" altLang="en-US" sz="1400" dirty="0" smtClean="0">
                <a:solidFill>
                  <a:schemeClr val="tx1"/>
                </a:solidFill>
              </a:rPr>
              <a:t>은 관리자가 수정 가능하도록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8261707" y="4857207"/>
            <a:ext cx="0" cy="468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30" name="Picture 10" descr="팀 선택형 예산/실적 입력 UI (버튼 수정본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9" b="13459"/>
          <a:stretch/>
        </p:blipFill>
        <p:spPr bwMode="auto">
          <a:xfrm>
            <a:off x="4614285" y="1476371"/>
            <a:ext cx="7258709" cy="332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8</a:t>
            </a:r>
            <a:r>
              <a:rPr lang="en-US" altLang="ko-KR" dirty="0" smtClean="0"/>
              <a:t>/10)</a:t>
            </a:r>
            <a:endParaRPr lang="ko-KR" altLang="en-US" dirty="0"/>
          </a:p>
        </p:txBody>
      </p:sp>
      <p:sp>
        <p:nvSpPr>
          <p:cNvPr id="2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3879F9-35B3-4A1C-8E90-6D5CC150147E}" type="slidenum">
              <a:rPr lang="ko-KR" altLang="en-US" smtClean="0"/>
              <a:t>28</a:t>
            </a:fld>
            <a:endParaRPr lang="ko-KR" altLang="en-US" dirty="0"/>
          </a:p>
        </p:txBody>
      </p:sp>
      <p:pic>
        <p:nvPicPr>
          <p:cNvPr id="6146" name="Picture 2" descr="연도 조회 란 이미지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9" r="33912" b="20824"/>
          <a:stretch/>
        </p:blipFill>
        <p:spPr bwMode="auto">
          <a:xfrm>
            <a:off x="9725026" y="1743074"/>
            <a:ext cx="2000250" cy="68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8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A4B606-F978-4FC2-B9B1-A6E4AB38AD95}"/>
              </a:ext>
            </a:extLst>
          </p:cNvPr>
          <p:cNvSpPr/>
          <p:nvPr/>
        </p:nvSpPr>
        <p:spPr>
          <a:xfrm>
            <a:off x="267194" y="941151"/>
            <a:ext cx="2445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○ </a:t>
            </a:r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안전보건실적 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244" name="Picture 4" descr="해상직원 메뉴 선택 상태 U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94" y="1331413"/>
            <a:ext cx="4100411" cy="263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질병/부상 자동집계 화면 UI (임시저장 추가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8" b="12530"/>
          <a:stretch/>
        </p:blipFill>
        <p:spPr bwMode="auto">
          <a:xfrm>
            <a:off x="4622727" y="1331413"/>
            <a:ext cx="7277959" cy="385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3388659" y="5479485"/>
            <a:ext cx="8484335" cy="8768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기존</a:t>
            </a:r>
            <a:r>
              <a:rPr lang="en-US" altLang="ko-KR" sz="1400" dirty="0" smtClean="0">
                <a:solidFill>
                  <a:schemeClr val="tx1"/>
                </a:solidFill>
              </a:rPr>
              <a:t>) </a:t>
            </a:r>
            <a:r>
              <a:rPr lang="ko-KR" altLang="en-US" sz="1400" dirty="0" smtClean="0">
                <a:solidFill>
                  <a:schemeClr val="tx1"/>
                </a:solidFill>
              </a:rPr>
              <a:t>이메일로 개별 연락 후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개별 취합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</a:rPr>
              <a:t>변경</a:t>
            </a:r>
            <a:r>
              <a:rPr lang="en-US" altLang="ko-KR" sz="1400" dirty="0" smtClean="0">
                <a:solidFill>
                  <a:schemeClr val="tx1"/>
                </a:solidFill>
              </a:rPr>
              <a:t>) </a:t>
            </a:r>
            <a:r>
              <a:rPr lang="ko-KR" altLang="en-US" sz="1400" dirty="0" smtClean="0">
                <a:solidFill>
                  <a:schemeClr val="tx1"/>
                </a:solidFill>
              </a:rPr>
              <a:t>이메일 개별 연락 </a:t>
            </a:r>
            <a:r>
              <a:rPr lang="en-US" altLang="ko-KR" sz="1400" dirty="0" smtClean="0">
                <a:solidFill>
                  <a:schemeClr val="tx1"/>
                </a:solidFill>
              </a:rPr>
              <a:t>-&gt; </a:t>
            </a:r>
            <a:r>
              <a:rPr lang="ko-KR" altLang="en-US" sz="1400" dirty="0" smtClean="0">
                <a:solidFill>
                  <a:schemeClr val="tx1"/>
                </a:solidFill>
              </a:rPr>
              <a:t>각 부서가 포털에서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실적기입</a:t>
            </a:r>
            <a:r>
              <a:rPr lang="en-US" altLang="ko-KR" sz="1400" dirty="0">
                <a:solidFill>
                  <a:schemeClr val="tx1"/>
                </a:solidFill>
              </a:rPr>
              <a:t/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 smtClean="0">
                <a:solidFill>
                  <a:schemeClr val="tx1"/>
                </a:solidFill>
              </a:rPr>
              <a:t>         **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해상직원</a:t>
            </a:r>
            <a:r>
              <a:rPr lang="ko-KR" altLang="en-US" sz="1400" dirty="0" smtClean="0">
                <a:solidFill>
                  <a:schemeClr val="tx1"/>
                </a:solidFill>
              </a:rPr>
              <a:t> 질병 및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부상사고</a:t>
            </a:r>
            <a:r>
              <a:rPr lang="ko-KR" altLang="en-US" sz="1400" dirty="0" smtClean="0">
                <a:solidFill>
                  <a:schemeClr val="tx1"/>
                </a:solidFill>
              </a:rPr>
              <a:t> 리스트는 엑셀 업로드 버튼 누른 후 업로드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8283054" y="4953804"/>
            <a:ext cx="0" cy="468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 설명선 3"/>
          <p:cNvSpPr/>
          <p:nvPr/>
        </p:nvSpPr>
        <p:spPr>
          <a:xfrm>
            <a:off x="1108039" y="4518213"/>
            <a:ext cx="1506069" cy="591670"/>
          </a:xfrm>
          <a:prstGeom prst="wedgeRectCallou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</a:rPr>
              <a:t>포스에스엠도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접근가능</a:t>
            </a:r>
            <a:r>
              <a:rPr lang="en-US" altLang="ko-KR" sz="1600" dirty="0" smtClean="0">
                <a:solidFill>
                  <a:schemeClr val="tx1"/>
                </a:solidFill>
              </a:rPr>
              <a:t>?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9</a:t>
            </a:r>
            <a:r>
              <a:rPr lang="en-US" altLang="ko-KR" dirty="0" smtClean="0"/>
              <a:t>/10)</a:t>
            </a:r>
            <a:endParaRPr lang="ko-KR" altLang="en-US" dirty="0"/>
          </a:p>
        </p:txBody>
      </p:sp>
      <p:sp>
        <p:nvSpPr>
          <p:cNvPr id="13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3879F9-35B3-4A1C-8E90-6D5CC150147E}" type="slidenum">
              <a:rPr lang="ko-KR" altLang="en-US" smtClean="0"/>
              <a:t>29</a:t>
            </a:fld>
            <a:endParaRPr lang="ko-KR" altLang="en-US" dirty="0"/>
          </a:p>
        </p:txBody>
      </p:sp>
      <p:pic>
        <p:nvPicPr>
          <p:cNvPr id="11" name="Picture 2" descr="연도 조회 란 이미지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9" r="33912" b="20824"/>
          <a:stretch/>
        </p:blipFill>
        <p:spPr bwMode="auto">
          <a:xfrm>
            <a:off x="10363200" y="2428883"/>
            <a:ext cx="1200150" cy="41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78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2" name="Picture 10" descr="상담내역 작성 버튼이 추가된 메인 U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8"/>
          <a:stretch/>
        </p:blipFill>
        <p:spPr bwMode="auto">
          <a:xfrm>
            <a:off x="267194" y="1498745"/>
            <a:ext cx="7875501" cy="459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A4B606-F978-4FC2-B9B1-A6E4AB38AD95}"/>
              </a:ext>
            </a:extLst>
          </p:cNvPr>
          <p:cNvSpPr/>
          <p:nvPr/>
        </p:nvSpPr>
        <p:spPr>
          <a:xfrm>
            <a:off x="267194" y="941151"/>
            <a:ext cx="2445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○</a:t>
            </a:r>
            <a:r>
              <a:rPr lang="ko-KR" altLang="en-US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보건파트</a:t>
            </a:r>
            <a:endParaRPr lang="en-US" altLang="ko-KR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사각형 설명선 7"/>
          <p:cNvSpPr/>
          <p:nvPr/>
        </p:nvSpPr>
        <p:spPr>
          <a:xfrm>
            <a:off x="7032035" y="1310483"/>
            <a:ext cx="3456672" cy="376525"/>
          </a:xfrm>
          <a:prstGeom prst="wedgeRectCallout">
            <a:avLst>
              <a:gd name="adj1" fmla="val -38592"/>
              <a:gd name="adj2" fmla="val 1188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병원자료</a:t>
            </a:r>
            <a:r>
              <a:rPr lang="ko-KR" altLang="en-US" sz="1200" dirty="0" smtClean="0">
                <a:solidFill>
                  <a:schemeClr val="tx1"/>
                </a:solidFill>
              </a:rPr>
              <a:t> 업로드하면 </a:t>
            </a:r>
            <a:r>
              <a:rPr lang="en-US" altLang="ko-KR" sz="1200" dirty="0" smtClean="0">
                <a:solidFill>
                  <a:schemeClr val="tx1"/>
                </a:solidFill>
              </a:rPr>
              <a:t>LIST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자동등록</a:t>
            </a:r>
            <a:r>
              <a:rPr lang="en-US" altLang="ko-KR" sz="1200" dirty="0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사각형 설명선 8"/>
          <p:cNvSpPr/>
          <p:nvPr/>
        </p:nvSpPr>
        <p:spPr>
          <a:xfrm>
            <a:off x="1081509" y="5163513"/>
            <a:ext cx="3456672" cy="376525"/>
          </a:xfrm>
          <a:prstGeom prst="wedgeRectCallout">
            <a:avLst>
              <a:gd name="adj1" fmla="val -38592"/>
              <a:gd name="adj2" fmla="val 1188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고혈압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smtClean="0">
                <a:solidFill>
                  <a:schemeClr val="tx1"/>
                </a:solidFill>
              </a:rPr>
              <a:t>당뇨</a:t>
            </a:r>
            <a:r>
              <a:rPr lang="en-US" altLang="ko-KR" sz="1200" dirty="0" smtClean="0">
                <a:solidFill>
                  <a:schemeClr val="tx1"/>
                </a:solidFill>
              </a:rPr>
              <a:t>/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고지혈증</a:t>
            </a:r>
            <a:r>
              <a:rPr lang="ko-KR" altLang="en-US" sz="1200" dirty="0" smtClean="0">
                <a:solidFill>
                  <a:schemeClr val="tx1"/>
                </a:solidFill>
              </a:rPr>
              <a:t> 등 </a:t>
            </a:r>
            <a:r>
              <a:rPr lang="en-US" altLang="ko-KR" sz="1200" dirty="0" smtClean="0">
                <a:solidFill>
                  <a:schemeClr val="tx1"/>
                </a:solidFill>
              </a:rPr>
              <a:t>FOAM </a:t>
            </a:r>
            <a:r>
              <a:rPr lang="ko-KR" altLang="en-US" sz="1200" dirty="0" smtClean="0">
                <a:solidFill>
                  <a:schemeClr val="tx1"/>
                </a:solidFill>
              </a:rPr>
              <a:t>생성 예정</a:t>
            </a:r>
            <a:r>
              <a:rPr lang="en-US" altLang="ko-KR" sz="1200" dirty="0" smtClean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1" name="Picture 4" descr="임직원 3개년 비교표 (버튼 수정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8" b="5674"/>
          <a:stretch/>
        </p:blipFill>
        <p:spPr bwMode="auto">
          <a:xfrm>
            <a:off x="8652794" y="2275624"/>
            <a:ext cx="3051525" cy="393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꺾인 연결선 11"/>
          <p:cNvCxnSpPr/>
          <p:nvPr/>
        </p:nvCxnSpPr>
        <p:spPr>
          <a:xfrm>
            <a:off x="2452744" y="3429000"/>
            <a:ext cx="5992009" cy="1021522"/>
          </a:xfrm>
          <a:prstGeom prst="bentConnector3">
            <a:avLst>
              <a:gd name="adj1" fmla="val -2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09950" y="4188912"/>
            <a:ext cx="28511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이름 더블 </a:t>
            </a:r>
            <a:r>
              <a:rPr lang="ko-KR" altLang="en-US" sz="1100" dirty="0" err="1" smtClean="0"/>
              <a:t>클릭시</a:t>
            </a:r>
            <a:r>
              <a:rPr lang="en-US" altLang="ko-KR" sz="1100" dirty="0" smtClean="0"/>
              <a:t>, 3</a:t>
            </a:r>
            <a:r>
              <a:rPr lang="ko-KR" altLang="en-US" sz="1100" dirty="0" smtClean="0"/>
              <a:t>개년 수치 팝업</a:t>
            </a:r>
            <a:endParaRPr lang="ko-KR" altLang="en-US" sz="1100" dirty="0"/>
          </a:p>
        </p:txBody>
      </p:sp>
      <p:sp>
        <p:nvSpPr>
          <p:cNvPr id="29" name="사각형 설명선 28"/>
          <p:cNvSpPr/>
          <p:nvPr/>
        </p:nvSpPr>
        <p:spPr>
          <a:xfrm>
            <a:off x="8444753" y="6441800"/>
            <a:ext cx="1914719" cy="194223"/>
          </a:xfrm>
          <a:prstGeom prst="wedgeRectCallout">
            <a:avLst>
              <a:gd name="adj1" fmla="val 79888"/>
              <a:gd name="adj2" fmla="val -21423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이전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상담내역</a:t>
            </a:r>
            <a:r>
              <a:rPr lang="ko-KR" altLang="en-US" sz="1200" dirty="0" smtClean="0">
                <a:solidFill>
                  <a:schemeClr val="tx1"/>
                </a:solidFill>
              </a:rPr>
              <a:t> 보기 가능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5D693D-FBDE-4AF0-AA3D-433D1BE55337}"/>
              </a:ext>
            </a:extLst>
          </p:cNvPr>
          <p:cNvSpPr txBox="1"/>
          <p:nvPr/>
        </p:nvSpPr>
        <p:spPr>
          <a:xfrm>
            <a:off x="167427" y="164769"/>
            <a:ext cx="6521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관리자</a:t>
            </a:r>
            <a:r>
              <a:rPr lang="en-US" altLang="ko-KR" sz="2800" b="1" dirty="0" smtClean="0"/>
              <a:t> </a:t>
            </a:r>
            <a:r>
              <a:rPr lang="en-US" altLang="ko-KR" dirty="0" smtClean="0"/>
              <a:t>(10/10)</a:t>
            </a:r>
            <a:endParaRPr lang="ko-KR" altLang="en-US" dirty="0"/>
          </a:p>
        </p:txBody>
      </p:sp>
      <p:sp>
        <p:nvSpPr>
          <p:cNvPr id="33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3879F9-35B3-4A1C-8E90-6D5CC150147E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064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31444</TotalTime>
  <Words>2132</Words>
  <Application>Microsoft Office PowerPoint</Application>
  <PresentationFormat>와이드스크린</PresentationFormat>
  <Paragraphs>907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Noto Sans KR</vt:lpstr>
      <vt:lpstr>Malgun Gothic</vt:lpstr>
      <vt:lpstr>Malgun Gothic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안전보건 포털 구성 안</dc:title>
  <dc:creator>류정욱/Ryu, Jeunguk</dc:creator>
  <cp:lastModifiedBy>황소원</cp:lastModifiedBy>
  <cp:revision>326</cp:revision>
  <cp:lastPrinted>2026-03-12T07:00:54Z</cp:lastPrinted>
  <dcterms:created xsi:type="dcterms:W3CDTF">2022-05-18T01:28:19Z</dcterms:created>
  <dcterms:modified xsi:type="dcterms:W3CDTF">2026-03-13T07:08:55Z</dcterms:modified>
</cp:coreProperties>
</file>